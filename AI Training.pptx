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7099300" cy="10234600"/>
  <p:embeddedFontLst>
    <p:embeddedFont>
      <p:font typeface="Garamon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LGFySNHNhuRXVAD53SWDLYQd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Garamond-bold.fntdata"/><Relationship Id="rId21" Type="http://schemas.openxmlformats.org/officeDocument/2006/relationships/font" Target="fonts/Garamond-regular.fntdata"/><Relationship Id="rId24" Type="http://schemas.openxmlformats.org/officeDocument/2006/relationships/font" Target="fonts/Garamond-boldItalic.fntdata"/><Relationship Id="rId23" Type="http://schemas.openxmlformats.org/officeDocument/2006/relationships/font" Target="fonts/Garamond-italic.fntdata"/><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notes"/>
          <p:cNvSpPr/>
          <p:nvPr>
            <p:ph idx="2" type="sldImg"/>
          </p:nvPr>
        </p:nvSpPr>
        <p:spPr>
          <a:xfrm>
            <a:off x="352440" y="693720"/>
            <a:ext cx="6152760" cy="34621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notes"/>
          <p:cNvSpPr txBox="1"/>
          <p:nvPr>
            <p:ph idx="1" type="body"/>
          </p:nvPr>
        </p:nvSpPr>
        <p:spPr>
          <a:xfrm>
            <a:off x="946080" y="4861080"/>
            <a:ext cx="5206680" cy="4605120"/>
          </a:xfrm>
          <a:prstGeom prst="rect">
            <a:avLst/>
          </a:prstGeom>
          <a:noFill/>
          <a:ln>
            <a:noFill/>
          </a:ln>
        </p:spPr>
        <p:txBody>
          <a:bodyPr anchorCtr="0" anchor="t" bIns="49675" lIns="99000" spcFirstLastPara="1" rIns="99000" wrap="square" tIns="49675">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04" name="Google Shape;204;p1:notes"/>
          <p:cNvSpPr txBox="1"/>
          <p:nvPr>
            <p:ph idx="12" type="sldNum"/>
          </p:nvPr>
        </p:nvSpPr>
        <p:spPr>
          <a:xfrm>
            <a:off x="4022640" y="9723600"/>
            <a:ext cx="3076200" cy="510840"/>
          </a:xfrm>
          <a:prstGeom prst="rect">
            <a:avLst/>
          </a:prstGeom>
          <a:noFill/>
          <a:ln>
            <a:noFill/>
          </a:ln>
        </p:spPr>
        <p:txBody>
          <a:bodyPr anchorCtr="0" anchor="b" bIns="49675" lIns="99000" spcFirstLastPara="1" rIns="99000" wrap="square" tIns="49675">
            <a:noAutofit/>
          </a:bodyPr>
          <a:lstStyle/>
          <a:p>
            <a:pPr indent="0" lvl="0" marL="0" marR="0" rtl="0" algn="r">
              <a:lnSpc>
                <a:spcPct val="100000"/>
              </a:lnSpc>
              <a:spcBef>
                <a:spcPts val="0"/>
              </a:spcBef>
              <a:spcAft>
                <a:spcPts val="0"/>
              </a:spcAft>
              <a:buClr>
                <a:srgbClr val="000000"/>
              </a:buClr>
              <a:buSzPts val="1300"/>
              <a:buFont typeface="Garamond"/>
              <a:buNone/>
            </a:pPr>
            <a:fld id="{00000000-1234-1234-1234-123412341234}" type="slidenum">
              <a:rPr b="0" i="0" lang="en-US" sz="1300" u="none" cap="none" strike="noStrike">
                <a:solidFill>
                  <a:srgbClr val="000000"/>
                </a:solidFill>
                <a:latin typeface="Garamond"/>
                <a:ea typeface="Garamond"/>
                <a:cs typeface="Garamond"/>
                <a:sym typeface="Garamond"/>
              </a:rPr>
              <a:t>‹#›</a:t>
            </a:fld>
            <a:endParaRPr b="0" i="0" sz="13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5e71722920_1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1" name="Google Shape;211;g35e71722920_1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5e71722920_1_17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5e71722920_1_175: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9" name="Google Shape;219;g35e71722920_1_175: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e71722920_1_181: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5e71722920_1_181: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6" name="Google Shape;226;g35e71722920_1_181: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5e71722920_1_21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5e71722920_1_21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0" name="Google Shape;250;g35e71722920_1_212: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45cf8e144b_0_1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g345cf8e144b_0_15: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64" name="Google Shape;264;g345cf8e144b_0_15: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5cf8e144b_1_0: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74" name="Google Shape;274;g345cf8e144b_1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d8add585b_0_4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81" name="Google Shape;281;g35d8add585b_0_4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5d8add585b_0_72: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89" name="Google Shape;289;g35d8add585b_0_7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5d8add585b_0_12: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96" name="Google Shape;296;g35d8add585b_0_1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5d8add585b_0_2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03" name="Google Shape;303;g35d8add585b_0_2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5d8add585b_0_31: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10" name="Google Shape;310;g35d8add585b_0_31: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17" name="Google Shape;317;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5d8add585b_0_85: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22" name="Google Shape;322;g35d8add585b_0_8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5" name="Shape 15"/>
        <p:cNvGrpSpPr/>
        <p:nvPr/>
      </p:nvGrpSpPr>
      <p:grpSpPr>
        <a:xfrm>
          <a:off x="0" y="0"/>
          <a:ext cx="0" cy="0"/>
          <a:chOff x="0" y="0"/>
          <a:chExt cx="0" cy="0"/>
        </a:xfrm>
      </p:grpSpPr>
      <p:sp>
        <p:nvSpPr>
          <p:cNvPr id="16" name="Google Shape;16;p8"/>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8"/>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8"/>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 name="Google Shape;24;p9"/>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9"/>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7" name="Shape 27"/>
        <p:cNvGrpSpPr/>
        <p:nvPr/>
      </p:nvGrpSpPr>
      <p:grpSpPr>
        <a:xfrm>
          <a:off x="0" y="0"/>
          <a:ext cx="0" cy="0"/>
          <a:chOff x="0" y="0"/>
          <a:chExt cx="0" cy="0"/>
        </a:xfrm>
      </p:grpSpPr>
      <p:sp>
        <p:nvSpPr>
          <p:cNvPr id="28" name="Google Shape;28;p14"/>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14"/>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1" name="Shape 31"/>
        <p:cNvGrpSpPr/>
        <p:nvPr/>
      </p:nvGrpSpPr>
      <p:grpSpPr>
        <a:xfrm>
          <a:off x="0" y="0"/>
          <a:ext cx="0" cy="0"/>
          <a:chOff x="0" y="0"/>
          <a:chExt cx="0" cy="0"/>
        </a:xfrm>
      </p:grpSpPr>
      <p:sp>
        <p:nvSpPr>
          <p:cNvPr id="32" name="Google Shape;32;p15"/>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1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15"/>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15"/>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16"/>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6"/>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6"/>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16"/>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7"/>
          <p:cNvSpPr txBox="1"/>
          <p:nvPr>
            <p:ph idx="1" type="subTitle"/>
          </p:nvPr>
        </p:nvSpPr>
        <p:spPr>
          <a:xfrm>
            <a:off x="406080" y="1527480"/>
            <a:ext cx="6857640" cy="829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7"/>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17"/>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8" name="Shape 48"/>
        <p:cNvGrpSpPr/>
        <p:nvPr/>
      </p:nvGrpSpPr>
      <p:grpSpPr>
        <a:xfrm>
          <a:off x="0" y="0"/>
          <a:ext cx="0" cy="0"/>
          <a:chOff x="0" y="0"/>
          <a:chExt cx="0" cy="0"/>
        </a:xfrm>
      </p:grpSpPr>
      <p:sp>
        <p:nvSpPr>
          <p:cNvPr id="49" name="Google Shape;49;p18"/>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2" name="Google Shape;52;p1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3" name="Google Shape;53;p18"/>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18"/>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6" name="Shape 56"/>
        <p:cNvGrpSpPr/>
        <p:nvPr/>
      </p:nvGrpSpPr>
      <p:grpSpPr>
        <a:xfrm>
          <a:off x="0" y="0"/>
          <a:ext cx="0" cy="0"/>
          <a:chOff x="0" y="0"/>
          <a:chExt cx="0" cy="0"/>
        </a:xfrm>
      </p:grpSpPr>
      <p:sp>
        <p:nvSpPr>
          <p:cNvPr id="57" name="Google Shape;57;p19"/>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1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0" name="Google Shape;60;p1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1" name="Google Shape;61;p19"/>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9"/>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3" name="Google Shape;63;p19"/>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64" name="Shape 64"/>
        <p:cNvGrpSpPr/>
        <p:nvPr/>
      </p:nvGrpSpPr>
      <p:grpSpPr>
        <a:xfrm>
          <a:off x="0" y="0"/>
          <a:ext cx="0" cy="0"/>
          <a:chOff x="0" y="0"/>
          <a:chExt cx="0" cy="0"/>
        </a:xfrm>
      </p:grpSpPr>
      <p:sp>
        <p:nvSpPr>
          <p:cNvPr id="65" name="Google Shape;65;p20"/>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7" name="Google Shape;67;p2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2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9" name="Google Shape;69;p20"/>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1" name="Google Shape;71;p20"/>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72" name="Shape 72"/>
        <p:cNvGrpSpPr/>
        <p:nvPr/>
      </p:nvGrpSpPr>
      <p:grpSpPr>
        <a:xfrm>
          <a:off x="0" y="0"/>
          <a:ext cx="0" cy="0"/>
          <a:chOff x="0" y="0"/>
          <a:chExt cx="0" cy="0"/>
        </a:xfrm>
      </p:grpSpPr>
      <p:sp>
        <p:nvSpPr>
          <p:cNvPr id="73" name="Google Shape;73;p21"/>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5" name="Google Shape;75;p2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6" name="Google Shape;76;p21"/>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1"/>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8" name="Google Shape;78;p21"/>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79" name="Shape 79"/>
        <p:cNvGrpSpPr/>
        <p:nvPr/>
      </p:nvGrpSpPr>
      <p:grpSpPr>
        <a:xfrm>
          <a:off x="0" y="0"/>
          <a:ext cx="0" cy="0"/>
          <a:chOff x="0" y="0"/>
          <a:chExt cx="0" cy="0"/>
        </a:xfrm>
      </p:grpSpPr>
      <p:sp>
        <p:nvSpPr>
          <p:cNvPr id="80" name="Google Shape;80;p22"/>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2" name="Google Shape;82;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3" name="Google Shape;83;p2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4" name="Google Shape;84;p2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5" name="Google Shape;85;p22"/>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2"/>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22"/>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88" name="Shape 88"/>
        <p:cNvGrpSpPr/>
        <p:nvPr/>
      </p:nvGrpSpPr>
      <p:grpSpPr>
        <a:xfrm>
          <a:off x="0" y="0"/>
          <a:ext cx="0" cy="0"/>
          <a:chOff x="0" y="0"/>
          <a:chExt cx="0" cy="0"/>
        </a:xfrm>
      </p:grpSpPr>
      <p:sp>
        <p:nvSpPr>
          <p:cNvPr id="89" name="Google Shape;89;p23"/>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1" name="Google Shape;91;p2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2" name="Google Shape;92;p2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3" name="Google Shape;93;p2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4" name="Google Shape;94;p2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5" name="Google Shape;95;p2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6" name="Google Shape;96;p23"/>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3"/>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8" name="Google Shape;98;p23"/>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algn="l">
              <a:lnSpc>
                <a:spcPct val="100000"/>
              </a:lnSpc>
              <a:spcBef>
                <a:spcPts val="0"/>
              </a:spcBef>
              <a:spcAft>
                <a:spcPts val="0"/>
              </a:spcAft>
              <a:buClr>
                <a:srgbClr val="8B8B8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02" name="Shape 10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03" name="Shape 103"/>
        <p:cNvGrpSpPr/>
        <p:nvPr/>
      </p:nvGrpSpPr>
      <p:grpSpPr>
        <a:xfrm>
          <a:off x="0" y="0"/>
          <a:ext cx="0" cy="0"/>
          <a:chOff x="0" y="0"/>
          <a:chExt cx="0" cy="0"/>
        </a:xfrm>
      </p:grpSpPr>
      <p:sp>
        <p:nvSpPr>
          <p:cNvPr id="104" name="Google Shape;104;p24"/>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4"/>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06" name="Shape 106"/>
        <p:cNvGrpSpPr/>
        <p:nvPr/>
      </p:nvGrpSpPr>
      <p:grpSpPr>
        <a:xfrm>
          <a:off x="0" y="0"/>
          <a:ext cx="0" cy="0"/>
          <a:chOff x="0" y="0"/>
          <a:chExt cx="0" cy="0"/>
        </a:xfrm>
      </p:grpSpPr>
      <p:sp>
        <p:nvSpPr>
          <p:cNvPr id="107" name="Google Shape;107;p25"/>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09" name="Shape 109"/>
        <p:cNvGrpSpPr/>
        <p:nvPr/>
      </p:nvGrpSpPr>
      <p:grpSpPr>
        <a:xfrm>
          <a:off x="0" y="0"/>
          <a:ext cx="0" cy="0"/>
          <a:chOff x="0" y="0"/>
          <a:chExt cx="0" cy="0"/>
        </a:xfrm>
      </p:grpSpPr>
      <p:sp>
        <p:nvSpPr>
          <p:cNvPr id="110" name="Google Shape;110;p26"/>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6"/>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2" name="Google Shape;112;p2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3" name="Shape 113"/>
        <p:cNvGrpSpPr/>
        <p:nvPr/>
      </p:nvGrpSpPr>
      <p:grpSpPr>
        <a:xfrm>
          <a:off x="0" y="0"/>
          <a:ext cx="0" cy="0"/>
          <a:chOff x="0" y="0"/>
          <a:chExt cx="0" cy="0"/>
        </a:xfrm>
      </p:grpSpPr>
      <p:sp>
        <p:nvSpPr>
          <p:cNvPr id="114" name="Google Shape;114;p27"/>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15" name="Shape 115"/>
        <p:cNvGrpSpPr/>
        <p:nvPr/>
      </p:nvGrpSpPr>
      <p:grpSpPr>
        <a:xfrm>
          <a:off x="0" y="0"/>
          <a:ext cx="0" cy="0"/>
          <a:chOff x="0" y="0"/>
          <a:chExt cx="0" cy="0"/>
        </a:xfrm>
      </p:grpSpPr>
      <p:sp>
        <p:nvSpPr>
          <p:cNvPr id="116" name="Google Shape;116;p28"/>
          <p:cNvSpPr txBox="1"/>
          <p:nvPr>
            <p:ph idx="1" type="subTitle"/>
          </p:nvPr>
        </p:nvSpPr>
        <p:spPr>
          <a:xfrm>
            <a:off x="406080" y="1527480"/>
            <a:ext cx="6857640" cy="829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17" name="Shape 117"/>
        <p:cNvGrpSpPr/>
        <p:nvPr/>
      </p:nvGrpSpPr>
      <p:grpSpPr>
        <a:xfrm>
          <a:off x="0" y="0"/>
          <a:ext cx="0" cy="0"/>
          <a:chOff x="0" y="0"/>
          <a:chExt cx="0" cy="0"/>
        </a:xfrm>
      </p:grpSpPr>
      <p:sp>
        <p:nvSpPr>
          <p:cNvPr id="118" name="Google Shape;118;p29"/>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20" name="Google Shape;120;p29"/>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21" name="Google Shape;121;p29"/>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22" name="Shape 122"/>
        <p:cNvGrpSpPr/>
        <p:nvPr/>
      </p:nvGrpSpPr>
      <p:grpSpPr>
        <a:xfrm>
          <a:off x="0" y="0"/>
          <a:ext cx="0" cy="0"/>
          <a:chOff x="0" y="0"/>
          <a:chExt cx="0" cy="0"/>
        </a:xfrm>
      </p:grpSpPr>
      <p:sp>
        <p:nvSpPr>
          <p:cNvPr id="123" name="Google Shape;123;p30"/>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25" name="Google Shape;125;p3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26" name="Google Shape;126;p30"/>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27" name="Shape 127"/>
        <p:cNvGrpSpPr/>
        <p:nvPr/>
      </p:nvGrpSpPr>
      <p:grpSpPr>
        <a:xfrm>
          <a:off x="0" y="0"/>
          <a:ext cx="0" cy="0"/>
          <a:chOff x="0" y="0"/>
          <a:chExt cx="0" cy="0"/>
        </a:xfrm>
      </p:grpSpPr>
      <p:sp>
        <p:nvSpPr>
          <p:cNvPr id="128" name="Google Shape;128;p31"/>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0" name="Google Shape;130;p3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1" name="Google Shape;131;p31"/>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32" name="Shape 132"/>
        <p:cNvGrpSpPr/>
        <p:nvPr/>
      </p:nvGrpSpPr>
      <p:grpSpPr>
        <a:xfrm>
          <a:off x="0" y="0"/>
          <a:ext cx="0" cy="0"/>
          <a:chOff x="0" y="0"/>
          <a:chExt cx="0" cy="0"/>
        </a:xfrm>
      </p:grpSpPr>
      <p:sp>
        <p:nvSpPr>
          <p:cNvPr id="133" name="Google Shape;133;p32"/>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2"/>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5" name="Google Shape;135;p32"/>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36" name="Shape 136"/>
        <p:cNvGrpSpPr/>
        <p:nvPr/>
      </p:nvGrpSpPr>
      <p:grpSpPr>
        <a:xfrm>
          <a:off x="0" y="0"/>
          <a:ext cx="0" cy="0"/>
          <a:chOff x="0" y="0"/>
          <a:chExt cx="0" cy="0"/>
        </a:xfrm>
      </p:grpSpPr>
      <p:sp>
        <p:nvSpPr>
          <p:cNvPr id="137" name="Google Shape;137;p33"/>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9" name="Google Shape;139;p3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0" name="Google Shape;140;p3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1" name="Google Shape;141;p33"/>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42" name="Shape 142"/>
        <p:cNvGrpSpPr/>
        <p:nvPr/>
      </p:nvGrpSpPr>
      <p:grpSpPr>
        <a:xfrm>
          <a:off x="0" y="0"/>
          <a:ext cx="0" cy="0"/>
          <a:chOff x="0" y="0"/>
          <a:chExt cx="0" cy="0"/>
        </a:xfrm>
      </p:grpSpPr>
      <p:sp>
        <p:nvSpPr>
          <p:cNvPr id="143" name="Google Shape;143;p34"/>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4"/>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5" name="Google Shape;145;p34"/>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6" name="Google Shape;146;p34"/>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7" name="Google Shape;147;p34"/>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8" name="Google Shape;148;p34"/>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9" name="Google Shape;149;p34"/>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53" name="Shape 153"/>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54" name="Shape 154"/>
        <p:cNvGrpSpPr/>
        <p:nvPr/>
      </p:nvGrpSpPr>
      <p:grpSpPr>
        <a:xfrm>
          <a:off x="0" y="0"/>
          <a:ext cx="0" cy="0"/>
          <a:chOff x="0" y="0"/>
          <a:chExt cx="0" cy="0"/>
        </a:xfrm>
      </p:grpSpPr>
      <p:sp>
        <p:nvSpPr>
          <p:cNvPr id="155" name="Google Shape;155;p35"/>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35"/>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7" name="Shape 157"/>
        <p:cNvGrpSpPr/>
        <p:nvPr/>
      </p:nvGrpSpPr>
      <p:grpSpPr>
        <a:xfrm>
          <a:off x="0" y="0"/>
          <a:ext cx="0" cy="0"/>
          <a:chOff x="0" y="0"/>
          <a:chExt cx="0" cy="0"/>
        </a:xfrm>
      </p:grpSpPr>
      <p:sp>
        <p:nvSpPr>
          <p:cNvPr id="158" name="Google Shape;158;p36"/>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60" name="Shape 160"/>
        <p:cNvGrpSpPr/>
        <p:nvPr/>
      </p:nvGrpSpPr>
      <p:grpSpPr>
        <a:xfrm>
          <a:off x="0" y="0"/>
          <a:ext cx="0" cy="0"/>
          <a:chOff x="0" y="0"/>
          <a:chExt cx="0" cy="0"/>
        </a:xfrm>
      </p:grpSpPr>
      <p:sp>
        <p:nvSpPr>
          <p:cNvPr id="161" name="Google Shape;161;p37"/>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3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3" name="Google Shape;163;p3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4" name="Shape 164"/>
        <p:cNvGrpSpPr/>
        <p:nvPr/>
      </p:nvGrpSpPr>
      <p:grpSpPr>
        <a:xfrm>
          <a:off x="0" y="0"/>
          <a:ext cx="0" cy="0"/>
          <a:chOff x="0" y="0"/>
          <a:chExt cx="0" cy="0"/>
        </a:xfrm>
      </p:grpSpPr>
      <p:sp>
        <p:nvSpPr>
          <p:cNvPr id="165" name="Google Shape;165;p38"/>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66" name="Shape 166"/>
        <p:cNvGrpSpPr/>
        <p:nvPr/>
      </p:nvGrpSpPr>
      <p:grpSpPr>
        <a:xfrm>
          <a:off x="0" y="0"/>
          <a:ext cx="0" cy="0"/>
          <a:chOff x="0" y="0"/>
          <a:chExt cx="0" cy="0"/>
        </a:xfrm>
      </p:grpSpPr>
      <p:sp>
        <p:nvSpPr>
          <p:cNvPr id="167" name="Google Shape;167;p39"/>
          <p:cNvSpPr txBox="1"/>
          <p:nvPr>
            <p:ph idx="1" type="subTitle"/>
          </p:nvPr>
        </p:nvSpPr>
        <p:spPr>
          <a:xfrm>
            <a:off x="406080" y="1527480"/>
            <a:ext cx="6857640" cy="829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68" name="Shape 168"/>
        <p:cNvGrpSpPr/>
        <p:nvPr/>
      </p:nvGrpSpPr>
      <p:grpSpPr>
        <a:xfrm>
          <a:off x="0" y="0"/>
          <a:ext cx="0" cy="0"/>
          <a:chOff x="0" y="0"/>
          <a:chExt cx="0" cy="0"/>
        </a:xfrm>
      </p:grpSpPr>
      <p:sp>
        <p:nvSpPr>
          <p:cNvPr id="169" name="Google Shape;169;p40"/>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4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1" name="Google Shape;171;p4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2" name="Google Shape;172;p4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73" name="Shape 173"/>
        <p:cNvGrpSpPr/>
        <p:nvPr/>
      </p:nvGrpSpPr>
      <p:grpSpPr>
        <a:xfrm>
          <a:off x="0" y="0"/>
          <a:ext cx="0" cy="0"/>
          <a:chOff x="0" y="0"/>
          <a:chExt cx="0" cy="0"/>
        </a:xfrm>
      </p:grpSpPr>
      <p:sp>
        <p:nvSpPr>
          <p:cNvPr id="174" name="Google Shape;174;p41"/>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4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6" name="Google Shape;176;p4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7" name="Google Shape;177;p41"/>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78" name="Shape 178"/>
        <p:cNvGrpSpPr/>
        <p:nvPr/>
      </p:nvGrpSpPr>
      <p:grpSpPr>
        <a:xfrm>
          <a:off x="0" y="0"/>
          <a:ext cx="0" cy="0"/>
          <a:chOff x="0" y="0"/>
          <a:chExt cx="0" cy="0"/>
        </a:xfrm>
      </p:grpSpPr>
      <p:sp>
        <p:nvSpPr>
          <p:cNvPr id="179" name="Google Shape;179;p42"/>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4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1" name="Google Shape;181;p4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2" name="Google Shape;182;p42"/>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83" name="Shape 183"/>
        <p:cNvGrpSpPr/>
        <p:nvPr/>
      </p:nvGrpSpPr>
      <p:grpSpPr>
        <a:xfrm>
          <a:off x="0" y="0"/>
          <a:ext cx="0" cy="0"/>
          <a:chOff x="0" y="0"/>
          <a:chExt cx="0" cy="0"/>
        </a:xfrm>
      </p:grpSpPr>
      <p:sp>
        <p:nvSpPr>
          <p:cNvPr id="184" name="Google Shape;184;p43"/>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43"/>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6" name="Google Shape;186;p43"/>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87" name="Shape 187"/>
        <p:cNvGrpSpPr/>
        <p:nvPr/>
      </p:nvGrpSpPr>
      <p:grpSpPr>
        <a:xfrm>
          <a:off x="0" y="0"/>
          <a:ext cx="0" cy="0"/>
          <a:chOff x="0" y="0"/>
          <a:chExt cx="0" cy="0"/>
        </a:xfrm>
      </p:grpSpPr>
      <p:sp>
        <p:nvSpPr>
          <p:cNvPr id="188" name="Google Shape;188;p44"/>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4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0" name="Google Shape;190;p4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1" name="Google Shape;191;p4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2" name="Google Shape;192;p44"/>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93" name="Shape 193"/>
        <p:cNvGrpSpPr/>
        <p:nvPr/>
      </p:nvGrpSpPr>
      <p:grpSpPr>
        <a:xfrm>
          <a:off x="0" y="0"/>
          <a:ext cx="0" cy="0"/>
          <a:chOff x="0" y="0"/>
          <a:chExt cx="0" cy="0"/>
        </a:xfrm>
      </p:grpSpPr>
      <p:sp>
        <p:nvSpPr>
          <p:cNvPr id="194" name="Google Shape;194;p45"/>
          <p:cNvSpPr txBox="1"/>
          <p:nvPr>
            <p:ph type="title"/>
          </p:nvPr>
        </p:nvSpPr>
        <p:spPr>
          <a:xfrm>
            <a:off x="406080" y="1527480"/>
            <a:ext cx="6857640" cy="1790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45"/>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6" name="Google Shape;196;p45"/>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7" name="Google Shape;197;p45"/>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8" name="Google Shape;198;p45"/>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9" name="Google Shape;199;p45"/>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0" name="Google Shape;200;p45"/>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8.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2.jp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1.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1143000" y="841680"/>
            <a:ext cx="6857640" cy="1790280"/>
          </a:xfrm>
          <a:prstGeom prst="rect">
            <a:avLst/>
          </a:prstGeom>
          <a:noFill/>
          <a:ln>
            <a:noFill/>
          </a:ln>
        </p:spPr>
        <p:txBody>
          <a:bodyPr anchorCtr="0" anchor="b" bIns="34200" lIns="68400" spcFirstLastPara="1" rIns="68400" wrap="square" tIns="342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
          <p:cNvSpPr txBox="1"/>
          <p:nvPr>
            <p:ph idx="10" type="dt"/>
          </p:nvPr>
        </p:nvSpPr>
        <p:spPr>
          <a:xfrm>
            <a:off x="628560" y="4767480"/>
            <a:ext cx="2057040" cy="273600"/>
          </a:xfrm>
          <a:prstGeom prst="rect">
            <a:avLst/>
          </a:prstGeom>
          <a:noFill/>
          <a:ln>
            <a:noFill/>
          </a:ln>
        </p:spPr>
        <p:txBody>
          <a:bodyPr anchorCtr="0" anchor="ctr" bIns="34200" lIns="68400" spcFirstLastPara="1" rIns="68400" wrap="square" tIns="34200">
            <a:noAutofit/>
          </a:bodyPr>
          <a:lstStyle>
            <a:lvl1pPr lvl="0" marR="0" rtl="0" algn="l">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7"/>
          <p:cNvSpPr txBox="1"/>
          <p:nvPr>
            <p:ph idx="11" type="ftr"/>
          </p:nvPr>
        </p:nvSpPr>
        <p:spPr>
          <a:xfrm>
            <a:off x="3029040" y="4767480"/>
            <a:ext cx="3085920" cy="273600"/>
          </a:xfrm>
          <a:prstGeom prst="rect">
            <a:avLst/>
          </a:prstGeom>
          <a:noFill/>
          <a:ln>
            <a:noFill/>
          </a:ln>
        </p:spPr>
        <p:txBody>
          <a:bodyPr anchorCtr="0" anchor="ctr" bIns="34200" lIns="68400" spcFirstLastPara="1" rIns="68400" wrap="square" tIns="342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7"/>
          <p:cNvSpPr txBox="1"/>
          <p:nvPr>
            <p:ph idx="12" type="sldNum"/>
          </p:nvPr>
        </p:nvSpPr>
        <p:spPr>
          <a:xfrm>
            <a:off x="6458040" y="4767480"/>
            <a:ext cx="2057040" cy="273600"/>
          </a:xfrm>
          <a:prstGeom prst="rect">
            <a:avLst/>
          </a:prstGeom>
          <a:noFill/>
          <a:ln>
            <a:noFill/>
          </a:ln>
        </p:spPr>
        <p:txBody>
          <a:bodyPr anchorCtr="0" anchor="ctr" bIns="34200" lIns="68400" spcFirstLastPara="1" rIns="68400" wrap="square" tIns="34200">
            <a:noAutofit/>
          </a:bodyPr>
          <a:lstStyle>
            <a:lvl1pPr indent="0" lvl="0"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14" name="Google Shape;14;p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9" name="Shape 99"/>
        <p:cNvGrpSpPr/>
        <p:nvPr/>
      </p:nvGrpSpPr>
      <p:grpSpPr>
        <a:xfrm>
          <a:off x="0" y="0"/>
          <a:ext cx="0" cy="0"/>
          <a:chOff x="0" y="0"/>
          <a:chExt cx="0" cy="0"/>
        </a:xfrm>
      </p:grpSpPr>
      <p:sp>
        <p:nvSpPr>
          <p:cNvPr id="100" name="Google Shape;100;p10"/>
          <p:cNvSpPr txBox="1"/>
          <p:nvPr>
            <p:ph idx="1" type="body"/>
          </p:nvPr>
        </p:nvSpPr>
        <p:spPr>
          <a:xfrm>
            <a:off x="457200" y="936000"/>
            <a:ext cx="8229240" cy="357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1" name="Google Shape;101;p10"/>
          <p:cNvSpPr txBox="1"/>
          <p:nvPr>
            <p:ph type="title"/>
          </p:nvPr>
        </p:nvSpPr>
        <p:spPr>
          <a:xfrm>
            <a:off x="457200" y="86760"/>
            <a:ext cx="8229240" cy="7552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0" name="Shape 150"/>
        <p:cNvGrpSpPr/>
        <p:nvPr/>
      </p:nvGrpSpPr>
      <p:grpSpPr>
        <a:xfrm>
          <a:off x="0" y="0"/>
          <a:ext cx="0" cy="0"/>
          <a:chOff x="0" y="0"/>
          <a:chExt cx="0" cy="0"/>
        </a:xfrm>
      </p:grpSpPr>
      <p:sp>
        <p:nvSpPr>
          <p:cNvPr id="151" name="Google Shape;151;p12"/>
          <p:cNvSpPr txBox="1"/>
          <p:nvPr>
            <p:ph type="title"/>
          </p:nvPr>
        </p:nvSpPr>
        <p:spPr>
          <a:xfrm>
            <a:off x="406080" y="1527480"/>
            <a:ext cx="6857640" cy="1790280"/>
          </a:xfrm>
          <a:prstGeom prst="rect">
            <a:avLst/>
          </a:prstGeom>
          <a:noFill/>
          <a:ln>
            <a:noFill/>
          </a:ln>
        </p:spPr>
        <p:txBody>
          <a:bodyPr anchorCtr="0" anchor="b" bIns="34200" lIns="68400" spcFirstLastPara="1" rIns="68400" wrap="square" tIns="342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2" name="Google Shape;152;p1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www.jetson-ai-lab.com/tutorial_jetson-copilot.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hyperlink" Target="https://docs.ultralytics.com/quickstar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
          <p:cNvSpPr/>
          <p:nvPr/>
        </p:nvSpPr>
        <p:spPr>
          <a:xfrm>
            <a:off x="602825" y="1198575"/>
            <a:ext cx="5337900" cy="1295700"/>
          </a:xfrm>
          <a:prstGeom prst="rect">
            <a:avLst/>
          </a:prstGeom>
          <a:noFill/>
          <a:ln>
            <a:noFill/>
          </a:ln>
        </p:spPr>
        <p:txBody>
          <a:bodyPr anchorCtr="0" anchor="t" bIns="34200" lIns="68400" spcFirstLastPara="1" rIns="68400" wrap="square" tIns="34200">
            <a:normAutofit/>
          </a:bodyPr>
          <a:lstStyle/>
          <a:p>
            <a:pPr indent="0" lvl="0" marL="0" marR="0" rtl="0" algn="l">
              <a:lnSpc>
                <a:spcPct val="100000"/>
              </a:lnSpc>
              <a:spcBef>
                <a:spcPts val="0"/>
              </a:spcBef>
              <a:spcAft>
                <a:spcPts val="0"/>
              </a:spcAft>
              <a:buClr>
                <a:srgbClr val="002060"/>
              </a:buClr>
              <a:buSzPts val="4012"/>
              <a:buFont typeface="Calibri"/>
              <a:buNone/>
            </a:pPr>
            <a:r>
              <a:rPr b="1" lang="en-US" sz="4012">
                <a:solidFill>
                  <a:srgbClr val="002060"/>
                </a:solidFill>
                <a:latin typeface="Calibri"/>
                <a:ea typeface="Calibri"/>
                <a:cs typeface="Calibri"/>
                <a:sym typeface="Calibri"/>
              </a:rPr>
              <a:t>AI on the AIR-030</a:t>
            </a:r>
            <a:endParaRPr b="1" i="0" sz="4012" u="none" cap="none" strike="noStrike">
              <a:solidFill>
                <a:srgbClr val="002060"/>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b="1" i="0" sz="4012" u="none" cap="none" strike="noStrike">
              <a:solidFill>
                <a:srgbClr val="002060"/>
              </a:solidFill>
              <a:latin typeface="Calibri"/>
              <a:ea typeface="Calibri"/>
              <a:cs typeface="Calibri"/>
              <a:sym typeface="Calibri"/>
            </a:endParaRPr>
          </a:p>
          <a:p>
            <a:pPr indent="0" lvl="0" marL="0" marR="0" rtl="0" algn="l">
              <a:lnSpc>
                <a:spcPct val="100000"/>
              </a:lnSpc>
              <a:spcBef>
                <a:spcPts val="0"/>
              </a:spcBef>
              <a:spcAft>
                <a:spcPts val="0"/>
              </a:spcAft>
              <a:buClr>
                <a:srgbClr val="002060"/>
              </a:buClr>
              <a:buSzPts val="4012"/>
              <a:buFont typeface="Calibri"/>
              <a:buNone/>
            </a:pPr>
            <a:r>
              <a:t/>
            </a:r>
            <a:endParaRPr b="1" sz="4012">
              <a:solidFill>
                <a:srgbClr val="002060"/>
              </a:solidFill>
              <a:latin typeface="Calibri"/>
              <a:ea typeface="Calibri"/>
              <a:cs typeface="Calibri"/>
              <a:sym typeface="Calibri"/>
            </a:endParaRPr>
          </a:p>
        </p:txBody>
      </p:sp>
      <p:pic>
        <p:nvPicPr>
          <p:cNvPr id="207" name="Google Shape;207;p1" title="AIR-030_04--20230601175549-removebg-preview.png"/>
          <p:cNvPicPr preferRelativeResize="0"/>
          <p:nvPr/>
        </p:nvPicPr>
        <p:blipFill rotWithShape="1">
          <a:blip r:embed="rId3">
            <a:alphaModFix/>
          </a:blip>
          <a:srcRect b="22033" l="0" r="0" t="22172"/>
          <a:stretch/>
        </p:blipFill>
        <p:spPr>
          <a:xfrm>
            <a:off x="4059900" y="3529750"/>
            <a:ext cx="2624925" cy="1464625"/>
          </a:xfrm>
          <a:prstGeom prst="rect">
            <a:avLst/>
          </a:prstGeom>
          <a:noFill/>
          <a:ln>
            <a:noFill/>
          </a:ln>
        </p:spPr>
      </p:pic>
      <p:sp>
        <p:nvSpPr>
          <p:cNvPr id="208" name="Google Shape;208;p1"/>
          <p:cNvSpPr/>
          <p:nvPr/>
        </p:nvSpPr>
        <p:spPr>
          <a:xfrm>
            <a:off x="696874" y="3655025"/>
            <a:ext cx="3078600" cy="3156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Clr>
                <a:srgbClr val="0070C0"/>
              </a:buClr>
              <a:buSzPts val="1550"/>
              <a:buFont typeface="Calibri"/>
              <a:buNone/>
            </a:pPr>
            <a:r>
              <a:rPr b="0" i="1" lang="en-US" sz="1400" u="none" cap="none" strike="noStrike">
                <a:solidFill>
                  <a:schemeClr val="dk1"/>
                </a:solidFill>
                <a:latin typeface="Calibri"/>
                <a:ea typeface="Calibri"/>
                <a:cs typeface="Calibri"/>
                <a:sym typeface="Calibri"/>
              </a:rPr>
              <a:t>Elvis Los</a:t>
            </a:r>
            <a:r>
              <a:rPr i="1" lang="en-US">
                <a:solidFill>
                  <a:schemeClr val="dk1"/>
                </a:solidFill>
                <a:latin typeface="Calibri"/>
                <a:ea typeface="Calibri"/>
                <a:cs typeface="Calibri"/>
                <a:sym typeface="Calibri"/>
              </a:rPr>
              <a:t> &amp; </a:t>
            </a:r>
            <a:r>
              <a:rPr b="0" i="1" lang="en-US" sz="1400" u="none" cap="none" strike="noStrike">
                <a:solidFill>
                  <a:schemeClr val="dk1"/>
                </a:solidFill>
                <a:latin typeface="Calibri"/>
                <a:ea typeface="Calibri"/>
                <a:cs typeface="Calibri"/>
                <a:sym typeface="Calibri"/>
              </a:rPr>
              <a:t>Bodi Sadman</a:t>
            </a:r>
            <a:endParaRPr b="0" i="1" sz="1400" u="none" cap="none" strike="noStrike">
              <a:solidFill>
                <a:schemeClr val="dk1"/>
              </a:solidFill>
              <a:latin typeface="Arial"/>
              <a:ea typeface="Arial"/>
              <a:cs typeface="Arial"/>
              <a:sym typeface="Arial"/>
            </a:endParaRPr>
          </a:p>
          <a:p>
            <a:pPr indent="0" lvl="0" marL="0" marR="0" rtl="0" algn="l">
              <a:lnSpc>
                <a:spcPct val="100000"/>
              </a:lnSpc>
              <a:spcBef>
                <a:spcPts val="309"/>
              </a:spcBef>
              <a:spcAft>
                <a:spcPts val="0"/>
              </a:spcAft>
              <a:buClr>
                <a:srgbClr val="000000"/>
              </a:buClr>
              <a:buSzPts val="155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g35e71722920_1_0"/>
          <p:cNvPicPr preferRelativeResize="0"/>
          <p:nvPr/>
        </p:nvPicPr>
        <p:blipFill>
          <a:blip r:embed="rId3">
            <a:alphaModFix/>
          </a:blip>
          <a:stretch>
            <a:fillRect/>
          </a:stretch>
        </p:blipFill>
        <p:spPr>
          <a:xfrm>
            <a:off x="0" y="0"/>
            <a:ext cx="9143990" cy="5143500"/>
          </a:xfrm>
          <a:prstGeom prst="rect">
            <a:avLst/>
          </a:prstGeom>
          <a:noFill/>
          <a:ln>
            <a:noFill/>
          </a:ln>
        </p:spPr>
      </p:pic>
      <p:sp>
        <p:nvSpPr>
          <p:cNvPr id="214" name="Google Shape;214;g35e71722920_1_0"/>
          <p:cNvSpPr txBox="1"/>
          <p:nvPr>
            <p:ph idx="4294967295" type="title"/>
          </p:nvPr>
        </p:nvSpPr>
        <p:spPr>
          <a:xfrm>
            <a:off x="5211025" y="3394375"/>
            <a:ext cx="3378900" cy="602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Advantech Intern Team</a:t>
            </a:r>
            <a:endParaRPr b="0" i="0" sz="2500" u="none" cap="none" strike="noStrike">
              <a:solidFill>
                <a:srgbClr val="000000"/>
              </a:solidFill>
              <a:latin typeface="Garamond"/>
              <a:ea typeface="Garamond"/>
              <a:cs typeface="Garamond"/>
              <a:sym typeface="Garamond"/>
            </a:endParaRPr>
          </a:p>
        </p:txBody>
      </p:sp>
      <p:sp>
        <p:nvSpPr>
          <p:cNvPr id="215" name="Google Shape;215;g35e71722920_1_0"/>
          <p:cNvSpPr/>
          <p:nvPr/>
        </p:nvSpPr>
        <p:spPr>
          <a:xfrm>
            <a:off x="5601052" y="3920675"/>
            <a:ext cx="2157300" cy="3156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Clr>
                <a:srgbClr val="0070C0"/>
              </a:buClr>
              <a:buSzPts val="1550"/>
              <a:buFont typeface="Calibri"/>
              <a:buNone/>
            </a:pPr>
            <a:r>
              <a:rPr i="1" lang="en-US" sz="1200" u="none" cap="none" strike="noStrike">
                <a:solidFill>
                  <a:schemeClr val="dk1"/>
                </a:solidFill>
                <a:latin typeface="Calibri"/>
                <a:ea typeface="Calibri"/>
                <a:cs typeface="Calibri"/>
                <a:sym typeface="Calibri"/>
              </a:rPr>
              <a:t>Elvis Los, Bodi Sadman, A</a:t>
            </a:r>
            <a:r>
              <a:rPr i="1" lang="en-US" sz="1200">
                <a:solidFill>
                  <a:schemeClr val="dk1"/>
                </a:solidFill>
                <a:latin typeface="Calibri"/>
                <a:ea typeface="Calibri"/>
                <a:cs typeface="Calibri"/>
                <a:sym typeface="Calibri"/>
              </a:rPr>
              <a:t>ndrew</a:t>
            </a:r>
            <a:endParaRPr i="1" sz="1200" u="none" cap="none" strike="noStrike">
              <a:solidFill>
                <a:schemeClr val="dk1"/>
              </a:solidFill>
            </a:endParaRPr>
          </a:p>
          <a:p>
            <a:pPr indent="0" lvl="0" marL="0" marR="0" rtl="0" algn="l">
              <a:lnSpc>
                <a:spcPct val="100000"/>
              </a:lnSpc>
              <a:spcBef>
                <a:spcPts val="309"/>
              </a:spcBef>
              <a:spcAft>
                <a:spcPts val="0"/>
              </a:spcAft>
              <a:buSzPts val="1550"/>
              <a:buFont typeface="Arial"/>
              <a:buNone/>
            </a:pPr>
            <a:r>
              <a:t/>
            </a:r>
            <a:endParaRPr b="0" i="0" sz="155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5e71722920_1_175"/>
          <p:cNvSpPr txBox="1"/>
          <p:nvPr/>
        </p:nvSpPr>
        <p:spPr>
          <a:xfrm>
            <a:off x="183075" y="817075"/>
            <a:ext cx="89331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p>
          <a:p>
            <a:pPr indent="0" lvl="0" marL="0" rtl="0" algn="l">
              <a:spcBef>
                <a:spcPts val="0"/>
              </a:spcBef>
              <a:spcAft>
                <a:spcPts val="0"/>
              </a:spcAft>
              <a:buNone/>
            </a:pPr>
            <a:r>
              <a:rPr b="1" lang="en-US" sz="1500"/>
              <a:t>Retrieval-Augmented Generation </a:t>
            </a:r>
            <a:r>
              <a:rPr lang="en-US" sz="1500"/>
              <a:t>(RAG) is an </a:t>
            </a:r>
            <a:r>
              <a:rPr b="1" lang="en-US" sz="1500"/>
              <a:t>AI technique</a:t>
            </a:r>
            <a:r>
              <a:rPr lang="en-US" sz="1500"/>
              <a:t> that combines information retrieval with text generation to improve the accuracy and relevance of responses. It works by:</a:t>
            </a:r>
            <a:endParaRPr sz="1500"/>
          </a:p>
          <a:p>
            <a:pPr indent="-323850" lvl="0" marL="457200" rtl="0" algn="l">
              <a:spcBef>
                <a:spcPts val="0"/>
              </a:spcBef>
              <a:spcAft>
                <a:spcPts val="0"/>
              </a:spcAft>
              <a:buSzPts val="1500"/>
              <a:buAutoNum type="arabicPeriod"/>
            </a:pPr>
            <a:r>
              <a:rPr b="1" lang="en-US" sz="1500"/>
              <a:t>Retrieving</a:t>
            </a:r>
            <a:r>
              <a:rPr lang="en-US" sz="1500"/>
              <a:t> relevant documents from a knowledge base (e.g., a database, a vector store, or an external source) based on the user’s query.</a:t>
            </a:r>
            <a:endParaRPr sz="1500"/>
          </a:p>
          <a:p>
            <a:pPr indent="-323850" lvl="0" marL="457200" rtl="0" algn="l">
              <a:spcBef>
                <a:spcPts val="0"/>
              </a:spcBef>
              <a:spcAft>
                <a:spcPts val="0"/>
              </a:spcAft>
              <a:buSzPts val="1500"/>
              <a:buAutoNum type="arabicPeriod"/>
            </a:pPr>
            <a:r>
              <a:rPr b="1" lang="en-US" sz="1500"/>
              <a:t>Augmenting</a:t>
            </a:r>
            <a:r>
              <a:rPr lang="en-US" sz="1500"/>
              <a:t> the input by providing the retrieved documents to a language model.</a:t>
            </a:r>
            <a:endParaRPr sz="1500"/>
          </a:p>
          <a:p>
            <a:pPr indent="-323850" lvl="0" marL="457200" rtl="0" algn="l">
              <a:spcBef>
                <a:spcPts val="0"/>
              </a:spcBef>
              <a:spcAft>
                <a:spcPts val="0"/>
              </a:spcAft>
              <a:buSzPts val="1500"/>
              <a:buAutoNum type="arabicPeriod"/>
            </a:pPr>
            <a:r>
              <a:rPr b="1" lang="en-US" sz="1500"/>
              <a:t>Generating</a:t>
            </a:r>
            <a:r>
              <a:rPr lang="en-US" sz="1500"/>
              <a:t> a final response using both the retrieved data and the model's internal knowledge.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With RAG, you </a:t>
            </a:r>
            <a:r>
              <a:rPr b="1" lang="en-US" sz="1500"/>
              <a:t>don’t train a model from scratch</a:t>
            </a:r>
            <a:r>
              <a:rPr lang="en-US" sz="1500"/>
              <a:t>. Instead, you create a database (knowledge base) with your documents, and an existing LLM (like GPT) retrieves the relevant info from it in real-time.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For this we used an open source repository from </a:t>
            </a:r>
            <a:r>
              <a:rPr b="1" lang="en-US" sz="1500"/>
              <a:t>NVIDIA</a:t>
            </a:r>
            <a:r>
              <a:rPr lang="en-US" sz="1500"/>
              <a:t> called </a:t>
            </a:r>
            <a:r>
              <a:rPr b="1" lang="en-US" sz="1500"/>
              <a:t>Jetson Copilot</a:t>
            </a:r>
            <a:endParaRPr b="1" sz="1500"/>
          </a:p>
          <a:p>
            <a:pPr indent="0" lvl="0" marL="0" rtl="0" algn="l">
              <a:spcBef>
                <a:spcPts val="0"/>
              </a:spcBef>
              <a:spcAft>
                <a:spcPts val="0"/>
              </a:spcAft>
              <a:buNone/>
            </a:pPr>
            <a:r>
              <a:rPr lang="en-US" sz="1500"/>
              <a:t>Open this link and follow the installation and start procedure and support</a:t>
            </a:r>
            <a:endParaRPr sz="1500"/>
          </a:p>
          <a:p>
            <a:pPr indent="-323850" lvl="0" marL="457200" rtl="0" algn="l">
              <a:spcBef>
                <a:spcPts val="0"/>
              </a:spcBef>
              <a:spcAft>
                <a:spcPts val="0"/>
              </a:spcAft>
              <a:buSzPts val="1500"/>
              <a:buChar char="●"/>
            </a:pPr>
            <a:r>
              <a:rPr lang="en-US" sz="1500" u="sng">
                <a:solidFill>
                  <a:srgbClr val="DB5353"/>
                </a:solidFill>
                <a:hlinkClick r:id="rId3">
                  <a:extLst>
                    <a:ext uri="{A12FA001-AC4F-418D-AE19-62706E023703}">
                      <ahyp:hlinkClr val="tx"/>
                    </a:ext>
                  </a:extLst>
                </a:hlinkClick>
              </a:rPr>
              <a:t>https://www.jetson-ai-lab.com/tutorial_jetson-copilot.html</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sp>
        <p:nvSpPr>
          <p:cNvPr id="222" name="Google Shape;222;g35e71722920_1_175"/>
          <p:cNvSpPr txBox="1"/>
          <p:nvPr/>
        </p:nvSpPr>
        <p:spPr>
          <a:xfrm>
            <a:off x="312475" y="273150"/>
            <a:ext cx="8201100" cy="84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Font typeface="Arial"/>
              <a:buNone/>
            </a:pPr>
            <a:r>
              <a:rPr b="1" lang="en-US" sz="2500">
                <a:solidFill>
                  <a:srgbClr val="002060"/>
                </a:solidFill>
                <a:latin typeface="Calibri"/>
                <a:ea typeface="Calibri"/>
                <a:cs typeface="Calibri"/>
                <a:sym typeface="Calibri"/>
              </a:rPr>
              <a:t>RAG (Retrieval-Augmented Generation)</a:t>
            </a:r>
            <a:endParaRPr sz="2500">
              <a:solidFill>
                <a:srgbClr val="000000"/>
              </a:solidFill>
            </a:endParaRPr>
          </a:p>
          <a:p>
            <a:pPr indent="0" lvl="0" marL="0" rtl="0" algn="l">
              <a:spcBef>
                <a:spcPts val="0"/>
              </a:spcBef>
              <a:spcAft>
                <a:spcPts val="0"/>
              </a:spcAft>
              <a:buNone/>
            </a:pPr>
            <a:r>
              <a:t/>
            </a:r>
            <a:endParaRPr b="1"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5e71722920_1_181"/>
          <p:cNvSpPr txBox="1"/>
          <p:nvPr/>
        </p:nvSpPr>
        <p:spPr>
          <a:xfrm>
            <a:off x="457200" y="159120"/>
            <a:ext cx="8229300" cy="755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500">
                <a:solidFill>
                  <a:srgbClr val="002060"/>
                </a:solidFill>
                <a:latin typeface="Calibri"/>
                <a:ea typeface="Calibri"/>
                <a:cs typeface="Calibri"/>
                <a:sym typeface="Calibri"/>
              </a:rPr>
              <a:t>Building an Index &amp; Selecting Index for RAG</a:t>
            </a:r>
            <a:endParaRPr sz="2500">
              <a:latin typeface="Garamond"/>
              <a:ea typeface="Garamond"/>
              <a:cs typeface="Garamond"/>
              <a:sym typeface="Garamond"/>
            </a:endParaRPr>
          </a:p>
        </p:txBody>
      </p:sp>
      <p:pic>
        <p:nvPicPr>
          <p:cNvPr id="229" name="Google Shape;229;g35e71722920_1_181"/>
          <p:cNvPicPr preferRelativeResize="0"/>
          <p:nvPr/>
        </p:nvPicPr>
        <p:blipFill rotWithShape="1">
          <a:blip r:embed="rId3">
            <a:alphaModFix/>
          </a:blip>
          <a:srcRect b="0" l="0" r="0" t="0"/>
          <a:stretch/>
        </p:blipFill>
        <p:spPr>
          <a:xfrm>
            <a:off x="5943600" y="1266480"/>
            <a:ext cx="2893679" cy="2619720"/>
          </a:xfrm>
          <a:prstGeom prst="rect">
            <a:avLst/>
          </a:prstGeom>
          <a:noFill/>
          <a:ln>
            <a:noFill/>
          </a:ln>
        </p:spPr>
      </p:pic>
      <p:sp>
        <p:nvSpPr>
          <p:cNvPr id="230" name="Google Shape;230;g35e71722920_1_181"/>
          <p:cNvSpPr txBox="1"/>
          <p:nvPr/>
        </p:nvSpPr>
        <p:spPr>
          <a:xfrm>
            <a:off x="354900" y="4448150"/>
            <a:ext cx="2795100" cy="712800"/>
          </a:xfrm>
          <a:prstGeom prst="rect">
            <a:avLst/>
          </a:prstGeom>
          <a:noFill/>
          <a:ln>
            <a:noFill/>
          </a:ln>
        </p:spPr>
        <p:txBody>
          <a:bodyPr anchorCtr="0" anchor="t" bIns="45000" lIns="90000" spcFirstLastPara="1" rIns="90000" wrap="square" tIns="45000">
            <a:noAutofit/>
          </a:bodyPr>
          <a:lstStyle/>
          <a:p>
            <a:pPr indent="0" lvl="0" marL="0" rtl="0" algn="l">
              <a:spcBef>
                <a:spcPts val="0"/>
              </a:spcBef>
              <a:spcAft>
                <a:spcPts val="0"/>
              </a:spcAft>
              <a:buSzPts val="1000"/>
              <a:buFont typeface="Arial"/>
              <a:buNone/>
            </a:pPr>
            <a:r>
              <a:rPr lang="en-US" sz="1000">
                <a:solidFill>
                  <a:srgbClr val="000000"/>
                </a:solidFill>
              </a:rPr>
              <a:t>Add your files to your created folder</a:t>
            </a:r>
            <a:endParaRPr sz="1000">
              <a:solidFill>
                <a:srgbClr val="000000"/>
              </a:solidFill>
            </a:endParaRPr>
          </a:p>
          <a:p>
            <a:pPr indent="0" lvl="0" marL="0" rtl="0" algn="l">
              <a:spcBef>
                <a:spcPts val="0"/>
              </a:spcBef>
              <a:spcAft>
                <a:spcPts val="0"/>
              </a:spcAft>
              <a:buSzPts val="1000"/>
              <a:buFont typeface="Arial"/>
              <a:buNone/>
            </a:pPr>
            <a:r>
              <a:rPr lang="en-US" sz="1000">
                <a:solidFill>
                  <a:srgbClr val="000000"/>
                </a:solidFill>
              </a:rPr>
              <a:t>Supported files: 'txt', 'csv', 'docx', 'epub', 'hwp', 'ipynb', 'jpeg', 'jpg', 'mbox', 'md', 'mp3',  'mp4', 'pdf', 'png', 'ppt', 'pptm', 'pptx', 'xlsx', 'xls'</a:t>
            </a:r>
            <a:endParaRPr sz="1000">
              <a:solidFill>
                <a:srgbClr val="000000"/>
              </a:solidFill>
            </a:endParaRPr>
          </a:p>
          <a:p>
            <a:pPr indent="0" lvl="0" marL="0" rtl="0" algn="l">
              <a:spcBef>
                <a:spcPts val="0"/>
              </a:spcBef>
              <a:spcAft>
                <a:spcPts val="0"/>
              </a:spcAft>
              <a:buClr>
                <a:srgbClr val="000000"/>
              </a:buClr>
              <a:buSzPts val="1000"/>
              <a:buFont typeface="Arial"/>
              <a:buNone/>
            </a:pPr>
            <a:r>
              <a:t/>
            </a:r>
            <a:endParaRPr sz="1000">
              <a:solidFill>
                <a:srgbClr val="000000"/>
              </a:solidFill>
            </a:endParaRPr>
          </a:p>
        </p:txBody>
      </p:sp>
      <p:pic>
        <p:nvPicPr>
          <p:cNvPr id="231" name="Google Shape;231;g35e71722920_1_181"/>
          <p:cNvPicPr preferRelativeResize="0"/>
          <p:nvPr/>
        </p:nvPicPr>
        <p:blipFill rotWithShape="1">
          <a:blip r:embed="rId4">
            <a:alphaModFix/>
          </a:blip>
          <a:srcRect b="0" l="0" r="0" t="0"/>
          <a:stretch/>
        </p:blipFill>
        <p:spPr>
          <a:xfrm>
            <a:off x="2821320" y="1600200"/>
            <a:ext cx="2893680" cy="2162161"/>
          </a:xfrm>
          <a:prstGeom prst="rect">
            <a:avLst/>
          </a:prstGeom>
          <a:noFill/>
          <a:ln>
            <a:noFill/>
          </a:ln>
        </p:spPr>
      </p:pic>
      <p:pic>
        <p:nvPicPr>
          <p:cNvPr id="232" name="Google Shape;232;g35e71722920_1_181"/>
          <p:cNvPicPr preferRelativeResize="0"/>
          <p:nvPr/>
        </p:nvPicPr>
        <p:blipFill rotWithShape="1">
          <a:blip r:embed="rId5">
            <a:alphaModFix/>
          </a:blip>
          <a:srcRect b="0" l="0" r="0" t="0"/>
          <a:stretch/>
        </p:blipFill>
        <p:spPr>
          <a:xfrm>
            <a:off x="457200" y="1065960"/>
            <a:ext cx="2285999" cy="1448639"/>
          </a:xfrm>
          <a:prstGeom prst="rect">
            <a:avLst/>
          </a:prstGeom>
          <a:noFill/>
          <a:ln>
            <a:noFill/>
          </a:ln>
        </p:spPr>
      </p:pic>
      <p:pic>
        <p:nvPicPr>
          <p:cNvPr id="233" name="Google Shape;233;g35e71722920_1_181"/>
          <p:cNvPicPr preferRelativeResize="0"/>
          <p:nvPr/>
        </p:nvPicPr>
        <p:blipFill rotWithShape="1">
          <a:blip r:embed="rId6">
            <a:alphaModFix/>
          </a:blip>
          <a:srcRect b="0" l="0" r="0" t="0"/>
          <a:stretch/>
        </p:blipFill>
        <p:spPr>
          <a:xfrm>
            <a:off x="444125" y="3020850"/>
            <a:ext cx="2285999" cy="1448280"/>
          </a:xfrm>
          <a:prstGeom prst="rect">
            <a:avLst/>
          </a:prstGeom>
          <a:noFill/>
          <a:ln>
            <a:noFill/>
          </a:ln>
        </p:spPr>
      </p:pic>
      <p:sp>
        <p:nvSpPr>
          <p:cNvPr id="234" name="Google Shape;234;g35e71722920_1_181"/>
          <p:cNvSpPr txBox="1"/>
          <p:nvPr/>
        </p:nvSpPr>
        <p:spPr>
          <a:xfrm>
            <a:off x="2937238" y="3886190"/>
            <a:ext cx="2661900" cy="2325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1000"/>
              <a:t>Start Jetson Copilot, Enable Rag and build a new index</a:t>
            </a:r>
            <a:endParaRPr b="0" sz="1000" strike="noStrike">
              <a:latin typeface="Arial"/>
              <a:ea typeface="Arial"/>
              <a:cs typeface="Arial"/>
              <a:sym typeface="Arial"/>
            </a:endParaRPr>
          </a:p>
        </p:txBody>
      </p:sp>
      <p:sp>
        <p:nvSpPr>
          <p:cNvPr id="235" name="Google Shape;235;g35e71722920_1_181"/>
          <p:cNvSpPr/>
          <p:nvPr/>
        </p:nvSpPr>
        <p:spPr>
          <a:xfrm>
            <a:off x="998200" y="1236050"/>
            <a:ext cx="221400" cy="2535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g35e71722920_1_181"/>
          <p:cNvSpPr/>
          <p:nvPr/>
        </p:nvSpPr>
        <p:spPr>
          <a:xfrm>
            <a:off x="985125" y="3186950"/>
            <a:ext cx="1297200" cy="3741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g35e71722920_1_181"/>
          <p:cNvSpPr/>
          <p:nvPr/>
        </p:nvSpPr>
        <p:spPr>
          <a:xfrm>
            <a:off x="2890625" y="2630725"/>
            <a:ext cx="578700" cy="897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g35e71722920_1_181"/>
          <p:cNvSpPr/>
          <p:nvPr/>
        </p:nvSpPr>
        <p:spPr>
          <a:xfrm>
            <a:off x="6952775" y="3508850"/>
            <a:ext cx="254400" cy="1071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g35e71722920_1_181"/>
          <p:cNvSpPr txBox="1"/>
          <p:nvPr/>
        </p:nvSpPr>
        <p:spPr>
          <a:xfrm>
            <a:off x="253950" y="989725"/>
            <a:ext cx="254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FF00FF"/>
                </a:solidFill>
              </a:rPr>
              <a:t>1</a:t>
            </a:r>
            <a:endParaRPr sz="1500">
              <a:solidFill>
                <a:srgbClr val="FF00FF"/>
              </a:solidFill>
            </a:endParaRPr>
          </a:p>
        </p:txBody>
      </p:sp>
      <p:sp>
        <p:nvSpPr>
          <p:cNvPr id="240" name="Google Shape;240;g35e71722920_1_181"/>
          <p:cNvSpPr txBox="1"/>
          <p:nvPr/>
        </p:nvSpPr>
        <p:spPr>
          <a:xfrm>
            <a:off x="253950" y="3086850"/>
            <a:ext cx="254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FF00FF"/>
                </a:solidFill>
              </a:rPr>
              <a:t>2</a:t>
            </a:r>
            <a:endParaRPr sz="1500">
              <a:solidFill>
                <a:srgbClr val="FF00FF"/>
              </a:solidFill>
            </a:endParaRPr>
          </a:p>
        </p:txBody>
      </p:sp>
      <p:sp>
        <p:nvSpPr>
          <p:cNvPr id="241" name="Google Shape;241;g35e71722920_1_181"/>
          <p:cNvSpPr txBox="1"/>
          <p:nvPr/>
        </p:nvSpPr>
        <p:spPr>
          <a:xfrm>
            <a:off x="3298850" y="2336188"/>
            <a:ext cx="254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FF00FF"/>
                </a:solidFill>
              </a:rPr>
              <a:t>3</a:t>
            </a:r>
            <a:endParaRPr sz="1500">
              <a:solidFill>
                <a:srgbClr val="FF00FF"/>
              </a:solidFill>
            </a:endParaRPr>
          </a:p>
        </p:txBody>
      </p:sp>
      <p:sp>
        <p:nvSpPr>
          <p:cNvPr id="242" name="Google Shape;242;g35e71722920_1_181"/>
          <p:cNvSpPr txBox="1"/>
          <p:nvPr/>
        </p:nvSpPr>
        <p:spPr>
          <a:xfrm>
            <a:off x="6724225" y="3354650"/>
            <a:ext cx="254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FF00FF"/>
                </a:solidFill>
              </a:rPr>
              <a:t>4</a:t>
            </a:r>
            <a:endParaRPr sz="1500">
              <a:solidFill>
                <a:srgbClr val="FF00FF"/>
              </a:solidFill>
            </a:endParaRPr>
          </a:p>
        </p:txBody>
      </p:sp>
      <p:sp>
        <p:nvSpPr>
          <p:cNvPr id="243" name="Google Shape;243;g35e71722920_1_181"/>
          <p:cNvSpPr txBox="1"/>
          <p:nvPr/>
        </p:nvSpPr>
        <p:spPr>
          <a:xfrm>
            <a:off x="354900" y="2387400"/>
            <a:ext cx="2616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solidFill>
                  <a:srgbClr val="000000"/>
                </a:solidFill>
              </a:rPr>
              <a:t>Create a knowledge base creating a new folder inside jetson-copilot/Document</a:t>
            </a:r>
            <a:endParaRPr/>
          </a:p>
        </p:txBody>
      </p:sp>
      <p:sp>
        <p:nvSpPr>
          <p:cNvPr id="244" name="Google Shape;244;g35e71722920_1_181"/>
          <p:cNvSpPr/>
          <p:nvPr/>
        </p:nvSpPr>
        <p:spPr>
          <a:xfrm>
            <a:off x="1402025" y="3099200"/>
            <a:ext cx="317400" cy="660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g35e71722920_1_181"/>
          <p:cNvSpPr/>
          <p:nvPr/>
        </p:nvSpPr>
        <p:spPr>
          <a:xfrm>
            <a:off x="6978625" y="2034100"/>
            <a:ext cx="765900" cy="660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g35e71722920_1_181"/>
          <p:cNvSpPr txBox="1"/>
          <p:nvPr/>
        </p:nvSpPr>
        <p:spPr>
          <a:xfrm>
            <a:off x="5890438" y="392477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000000"/>
                </a:solidFill>
              </a:rPr>
              <a:t>Select your knowledge directory and build the new Index. Jetson Copilot will handle creating and managing the vector database behind the scenes</a:t>
            </a:r>
            <a:endParaRPr sz="10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5e71722920_1_212"/>
          <p:cNvSpPr txBox="1"/>
          <p:nvPr/>
        </p:nvSpPr>
        <p:spPr>
          <a:xfrm>
            <a:off x="6383025" y="3607900"/>
            <a:ext cx="2644200" cy="3855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SzPts val="1000"/>
              <a:buFont typeface="Arial"/>
              <a:buNone/>
            </a:pPr>
            <a:r>
              <a:rPr b="0" lang="en-US" sz="1000" strike="noStrike">
                <a:latin typeface="Arial"/>
                <a:ea typeface="Arial"/>
                <a:cs typeface="Arial"/>
                <a:sym typeface="Arial"/>
              </a:rPr>
              <a:t>As you can see, RAG was able to retrieve and generate the correct response </a:t>
            </a:r>
            <a:endParaRPr b="0" sz="1000" strike="noStrike">
              <a:latin typeface="Arial"/>
              <a:ea typeface="Arial"/>
              <a:cs typeface="Arial"/>
              <a:sym typeface="Arial"/>
            </a:endParaRPr>
          </a:p>
        </p:txBody>
      </p:sp>
      <p:pic>
        <p:nvPicPr>
          <p:cNvPr id="253" name="Google Shape;253;g35e71722920_1_212"/>
          <p:cNvPicPr preferRelativeResize="0"/>
          <p:nvPr/>
        </p:nvPicPr>
        <p:blipFill rotWithShape="1">
          <a:blip r:embed="rId3">
            <a:alphaModFix/>
          </a:blip>
          <a:srcRect b="42389" l="0" r="0" t="0"/>
          <a:stretch/>
        </p:blipFill>
        <p:spPr>
          <a:xfrm>
            <a:off x="6404100" y="1817600"/>
            <a:ext cx="2286275" cy="1628575"/>
          </a:xfrm>
          <a:prstGeom prst="rect">
            <a:avLst/>
          </a:prstGeom>
          <a:noFill/>
          <a:ln>
            <a:noFill/>
          </a:ln>
        </p:spPr>
      </p:pic>
      <p:sp>
        <p:nvSpPr>
          <p:cNvPr id="254" name="Google Shape;254;g35e71722920_1_212"/>
          <p:cNvSpPr txBox="1"/>
          <p:nvPr/>
        </p:nvSpPr>
        <p:spPr>
          <a:xfrm>
            <a:off x="455845" y="345115"/>
            <a:ext cx="8041800" cy="4593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n-US" sz="2500" strike="noStrike">
                <a:solidFill>
                  <a:srgbClr val="002060"/>
                </a:solidFill>
                <a:latin typeface="Calibri"/>
                <a:ea typeface="Calibri"/>
                <a:cs typeface="Calibri"/>
                <a:sym typeface="Calibri"/>
              </a:rPr>
              <a:t>Testing RAG</a:t>
            </a:r>
            <a:endParaRPr b="0" sz="2500" strike="noStrike">
              <a:latin typeface="Arial"/>
              <a:ea typeface="Arial"/>
              <a:cs typeface="Arial"/>
              <a:sym typeface="Arial"/>
            </a:endParaRPr>
          </a:p>
        </p:txBody>
      </p:sp>
      <p:sp>
        <p:nvSpPr>
          <p:cNvPr id="255" name="Google Shape;255;g35e71722920_1_212"/>
          <p:cNvSpPr txBox="1"/>
          <p:nvPr/>
        </p:nvSpPr>
        <p:spPr>
          <a:xfrm>
            <a:off x="537325" y="812100"/>
            <a:ext cx="8358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t>Just like a regular LLM, RAG can answer general questions it was trained on, but it also uses a retrieval component to find relevant information from your documents for more accurate, up-to-date answers.</a:t>
            </a:r>
            <a:endParaRPr sz="1200"/>
          </a:p>
        </p:txBody>
      </p:sp>
      <p:pic>
        <p:nvPicPr>
          <p:cNvPr id="256" name="Google Shape;256;g35e71722920_1_212" title="copilotTest.png"/>
          <p:cNvPicPr preferRelativeResize="0"/>
          <p:nvPr/>
        </p:nvPicPr>
        <p:blipFill>
          <a:blip r:embed="rId4">
            <a:alphaModFix/>
          </a:blip>
          <a:stretch>
            <a:fillRect/>
          </a:stretch>
        </p:blipFill>
        <p:spPr>
          <a:xfrm>
            <a:off x="579800" y="1408700"/>
            <a:ext cx="2517751" cy="3134099"/>
          </a:xfrm>
          <a:prstGeom prst="rect">
            <a:avLst/>
          </a:prstGeom>
          <a:noFill/>
          <a:ln>
            <a:noFill/>
          </a:ln>
        </p:spPr>
      </p:pic>
      <p:pic>
        <p:nvPicPr>
          <p:cNvPr id="257" name="Google Shape;257;g35e71722920_1_212" title="copilotTest2.png"/>
          <p:cNvPicPr preferRelativeResize="0"/>
          <p:nvPr/>
        </p:nvPicPr>
        <p:blipFill>
          <a:blip r:embed="rId5">
            <a:alphaModFix/>
          </a:blip>
          <a:stretch>
            <a:fillRect/>
          </a:stretch>
        </p:blipFill>
        <p:spPr>
          <a:xfrm>
            <a:off x="3232675" y="1408700"/>
            <a:ext cx="3078098" cy="3134101"/>
          </a:xfrm>
          <a:prstGeom prst="rect">
            <a:avLst/>
          </a:prstGeom>
          <a:noFill/>
          <a:ln>
            <a:noFill/>
          </a:ln>
        </p:spPr>
      </p:pic>
      <p:sp>
        <p:nvSpPr>
          <p:cNvPr id="258" name="Google Shape;258;g35e71722920_1_212"/>
          <p:cNvSpPr/>
          <p:nvPr/>
        </p:nvSpPr>
        <p:spPr>
          <a:xfrm rot="7763627">
            <a:off x="6859265" y="1413748"/>
            <a:ext cx="596458" cy="173152"/>
          </a:xfrm>
          <a:custGeom>
            <a:rect b="b" l="l" r="r" t="t"/>
            <a:pathLst>
              <a:path extrusionOk="0" h="21600" w="21600">
                <a:moveTo>
                  <a:pt x="0" y="5400"/>
                </a:moveTo>
                <a:lnTo>
                  <a:pt x="16200" y="5400"/>
                </a:lnTo>
                <a:lnTo>
                  <a:pt x="16200" y="0"/>
                </a:lnTo>
                <a:lnTo>
                  <a:pt x="21600" y="10800"/>
                </a:lnTo>
                <a:lnTo>
                  <a:pt x="16200" y="21600"/>
                </a:lnTo>
                <a:lnTo>
                  <a:pt x="16200" y="16200"/>
                </a:lnTo>
                <a:lnTo>
                  <a:pt x="0" y="16200"/>
                </a:lnTo>
                <a:close/>
              </a:path>
            </a:pathLst>
          </a:custGeom>
          <a:solidFill>
            <a:srgbClr val="729FCF"/>
          </a:solidFill>
          <a:ln cap="flat" cmpd="sng" w="9525">
            <a:solidFill>
              <a:srgbClr val="3465A4">
                <a:alpha val="9800"/>
              </a:srgbClr>
            </a:solidFill>
            <a:prstDash val="solid"/>
            <a:round/>
            <a:headEnd len="sm" w="sm" type="none"/>
            <a:tailEnd len="sm" w="sm" type="none"/>
          </a:ln>
        </p:spPr>
      </p:sp>
      <p:sp>
        <p:nvSpPr>
          <p:cNvPr id="259" name="Google Shape;259;g35e71722920_1_212"/>
          <p:cNvSpPr/>
          <p:nvPr/>
        </p:nvSpPr>
        <p:spPr>
          <a:xfrm>
            <a:off x="4287375" y="2780375"/>
            <a:ext cx="1811700" cy="2550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g35e71722920_1_212"/>
          <p:cNvSpPr/>
          <p:nvPr/>
        </p:nvSpPr>
        <p:spPr>
          <a:xfrm>
            <a:off x="1437025" y="2391900"/>
            <a:ext cx="559500" cy="2022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45cf8e144b_0_15"/>
          <p:cNvSpPr txBox="1"/>
          <p:nvPr/>
        </p:nvSpPr>
        <p:spPr>
          <a:xfrm>
            <a:off x="402300" y="1119750"/>
            <a:ext cx="7363800" cy="3186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n-US" sz="1500"/>
              <a:t>These are the topics we’re going to discuss:</a:t>
            </a:r>
            <a:endParaRPr sz="1500"/>
          </a:p>
          <a:p>
            <a:pPr indent="-323850" lvl="0" marL="457200" marR="0" rtl="0" algn="l">
              <a:lnSpc>
                <a:spcPct val="150000"/>
              </a:lnSpc>
              <a:spcBef>
                <a:spcPts val="0"/>
              </a:spcBef>
              <a:spcAft>
                <a:spcPts val="0"/>
              </a:spcAft>
              <a:buSzPts val="1500"/>
              <a:buAutoNum type="arabicPeriod"/>
            </a:pPr>
            <a:r>
              <a:rPr b="1" lang="en-US" sz="1500"/>
              <a:t>YOLO </a:t>
            </a:r>
            <a:r>
              <a:rPr lang="en-US" sz="1500"/>
              <a:t>(</a:t>
            </a:r>
            <a:r>
              <a:rPr b="1" lang="en-US" sz="1500"/>
              <a:t>Y</a:t>
            </a:r>
            <a:r>
              <a:rPr lang="en-US" sz="1500"/>
              <a:t>ou </a:t>
            </a:r>
            <a:r>
              <a:rPr b="1" lang="en-US" sz="1500"/>
              <a:t>O</a:t>
            </a:r>
            <a:r>
              <a:rPr lang="en-US" sz="1500"/>
              <a:t>nly </a:t>
            </a:r>
            <a:r>
              <a:rPr b="1" lang="en-US" sz="1500"/>
              <a:t>L</a:t>
            </a:r>
            <a:r>
              <a:rPr lang="en-US" sz="1500"/>
              <a:t>ook </a:t>
            </a:r>
            <a:r>
              <a:rPr b="1" lang="en-US" sz="1500"/>
              <a:t>O</a:t>
            </a:r>
            <a:r>
              <a:rPr lang="en-US" sz="1500"/>
              <a:t>nce)</a:t>
            </a:r>
            <a:endParaRPr sz="1500"/>
          </a:p>
          <a:p>
            <a:pPr indent="-323850" lvl="1" marL="914400" marR="0" rtl="0" algn="l">
              <a:lnSpc>
                <a:spcPct val="150000"/>
              </a:lnSpc>
              <a:spcBef>
                <a:spcPts val="0"/>
              </a:spcBef>
              <a:spcAft>
                <a:spcPts val="0"/>
              </a:spcAft>
              <a:buSzPts val="1500"/>
              <a:buAutoNum type="alphaLcPeriod"/>
            </a:pPr>
            <a:r>
              <a:rPr lang="en-US" sz="1500"/>
              <a:t>COCO</a:t>
            </a:r>
            <a:endParaRPr sz="1500"/>
          </a:p>
          <a:p>
            <a:pPr indent="-323850" lvl="1" marL="914400" marR="0" rtl="0" algn="l">
              <a:lnSpc>
                <a:spcPct val="150000"/>
              </a:lnSpc>
              <a:spcBef>
                <a:spcPts val="0"/>
              </a:spcBef>
              <a:spcAft>
                <a:spcPts val="0"/>
              </a:spcAft>
              <a:buSzPts val="1500"/>
              <a:buAutoNum type="alphaLcPeriod"/>
            </a:pPr>
            <a:r>
              <a:rPr lang="en-US" sz="1500"/>
              <a:t>PyTorch</a:t>
            </a:r>
            <a:endParaRPr sz="1500"/>
          </a:p>
          <a:p>
            <a:pPr indent="-323850" lvl="0" marL="457200" marR="0" rtl="0" algn="l">
              <a:lnSpc>
                <a:spcPct val="150000"/>
              </a:lnSpc>
              <a:spcBef>
                <a:spcPts val="0"/>
              </a:spcBef>
              <a:spcAft>
                <a:spcPts val="0"/>
              </a:spcAft>
              <a:buSzPts val="1500"/>
              <a:buAutoNum type="arabicPeriod"/>
            </a:pPr>
            <a:r>
              <a:rPr b="1" lang="en-US" sz="1500"/>
              <a:t>TensorRT</a:t>
            </a:r>
            <a:endParaRPr b="1" sz="1500"/>
          </a:p>
          <a:p>
            <a:pPr indent="-323850" lvl="1" marL="914400" rtl="0" algn="l">
              <a:lnSpc>
                <a:spcPct val="150000"/>
              </a:lnSpc>
              <a:spcBef>
                <a:spcPts val="0"/>
              </a:spcBef>
              <a:spcAft>
                <a:spcPts val="0"/>
              </a:spcAft>
              <a:buClr>
                <a:schemeClr val="dk1"/>
              </a:buClr>
              <a:buSzPts val="1500"/>
              <a:buAutoNum type="alphaLcPeriod"/>
            </a:pPr>
            <a:r>
              <a:rPr lang="en-US" sz="1500">
                <a:solidFill>
                  <a:schemeClr val="dk1"/>
                </a:solidFill>
              </a:rPr>
              <a:t>Onnx files</a:t>
            </a:r>
            <a:endParaRPr sz="1500"/>
          </a:p>
          <a:p>
            <a:pPr indent="-323850" lvl="1" marL="914400" marR="0" rtl="0" algn="l">
              <a:lnSpc>
                <a:spcPct val="150000"/>
              </a:lnSpc>
              <a:spcBef>
                <a:spcPts val="0"/>
              </a:spcBef>
              <a:spcAft>
                <a:spcPts val="0"/>
              </a:spcAft>
              <a:buSzPts val="1500"/>
              <a:buAutoNum type="alphaLcPeriod"/>
            </a:pPr>
            <a:r>
              <a:rPr lang="en-US" sz="1500"/>
              <a:t>Engine files</a:t>
            </a:r>
            <a:endParaRPr sz="1500"/>
          </a:p>
          <a:p>
            <a:pPr indent="-323850" lvl="0" marL="457200" marR="0" rtl="0" algn="l">
              <a:lnSpc>
                <a:spcPct val="150000"/>
              </a:lnSpc>
              <a:spcBef>
                <a:spcPts val="0"/>
              </a:spcBef>
              <a:spcAft>
                <a:spcPts val="0"/>
              </a:spcAft>
              <a:buSzPts val="1500"/>
              <a:buAutoNum type="arabicPeriod"/>
            </a:pPr>
            <a:r>
              <a:rPr b="1" lang="en-US" sz="1500"/>
              <a:t>Ultralytics</a:t>
            </a:r>
            <a:endParaRPr sz="1500"/>
          </a:p>
          <a:p>
            <a:pPr indent="-323850" lvl="0" marL="457200" marR="0" rtl="0" algn="l">
              <a:lnSpc>
                <a:spcPct val="150000"/>
              </a:lnSpc>
              <a:spcBef>
                <a:spcPts val="0"/>
              </a:spcBef>
              <a:spcAft>
                <a:spcPts val="0"/>
              </a:spcAft>
              <a:buSzPts val="1500"/>
              <a:buAutoNum type="arabicPeriod"/>
            </a:pPr>
            <a:r>
              <a:rPr b="1" lang="en-US" sz="1500"/>
              <a:t>Deepstream</a:t>
            </a:r>
            <a:endParaRPr sz="1500"/>
          </a:p>
        </p:txBody>
      </p:sp>
      <p:sp>
        <p:nvSpPr>
          <p:cNvPr id="267" name="Google Shape;267;g345cf8e144b_0_15"/>
          <p:cNvSpPr txBox="1"/>
          <p:nvPr/>
        </p:nvSpPr>
        <p:spPr>
          <a:xfrm>
            <a:off x="312475" y="273150"/>
            <a:ext cx="8201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500"/>
              <a:buFont typeface="Arial"/>
              <a:buNone/>
            </a:pPr>
            <a:r>
              <a:rPr b="1" lang="en-US" sz="2500">
                <a:solidFill>
                  <a:srgbClr val="002060"/>
                </a:solidFill>
                <a:latin typeface="Calibri"/>
                <a:ea typeface="Calibri"/>
                <a:cs typeface="Calibri"/>
                <a:sym typeface="Calibri"/>
              </a:rPr>
              <a:t>Introduction to AI</a:t>
            </a:r>
            <a:endParaRPr b="1" i="0" sz="1800" u="none" cap="none" strike="noStrike">
              <a:solidFill>
                <a:srgbClr val="000000"/>
              </a:solidFill>
              <a:latin typeface="Arial"/>
              <a:ea typeface="Arial"/>
              <a:cs typeface="Arial"/>
              <a:sym typeface="Arial"/>
            </a:endParaRPr>
          </a:p>
        </p:txBody>
      </p:sp>
      <p:pic>
        <p:nvPicPr>
          <p:cNvPr id="268" name="Google Shape;268;g345cf8e144b_0_15"/>
          <p:cNvPicPr preferRelativeResize="0"/>
          <p:nvPr/>
        </p:nvPicPr>
        <p:blipFill rotWithShape="1">
          <a:blip r:embed="rId3">
            <a:alphaModFix/>
          </a:blip>
          <a:srcRect b="17951" l="34375" r="33435" t="19257"/>
          <a:stretch/>
        </p:blipFill>
        <p:spPr>
          <a:xfrm>
            <a:off x="7394650" y="2136975"/>
            <a:ext cx="1226950" cy="1280775"/>
          </a:xfrm>
          <a:prstGeom prst="rect">
            <a:avLst/>
          </a:prstGeom>
          <a:noFill/>
          <a:ln>
            <a:noFill/>
          </a:ln>
        </p:spPr>
      </p:pic>
      <p:pic>
        <p:nvPicPr>
          <p:cNvPr id="269" name="Google Shape;269;g345cf8e144b_0_15"/>
          <p:cNvPicPr preferRelativeResize="0"/>
          <p:nvPr/>
        </p:nvPicPr>
        <p:blipFill rotWithShape="1">
          <a:blip r:embed="rId4">
            <a:alphaModFix/>
          </a:blip>
          <a:srcRect b="0" l="0" r="0" t="0"/>
          <a:stretch/>
        </p:blipFill>
        <p:spPr>
          <a:xfrm>
            <a:off x="5410200" y="0"/>
            <a:ext cx="3733800" cy="1828800"/>
          </a:xfrm>
          <a:prstGeom prst="rect">
            <a:avLst/>
          </a:prstGeom>
          <a:noFill/>
          <a:ln>
            <a:noFill/>
          </a:ln>
        </p:spPr>
      </p:pic>
      <p:pic>
        <p:nvPicPr>
          <p:cNvPr id="270" name="Google Shape;270;g345cf8e144b_0_15"/>
          <p:cNvPicPr preferRelativeResize="0"/>
          <p:nvPr/>
        </p:nvPicPr>
        <p:blipFill>
          <a:blip r:embed="rId5">
            <a:alphaModFix/>
          </a:blip>
          <a:stretch>
            <a:fillRect/>
          </a:stretch>
        </p:blipFill>
        <p:spPr>
          <a:xfrm>
            <a:off x="3829329" y="2072505"/>
            <a:ext cx="2053064" cy="1280775"/>
          </a:xfrm>
          <a:prstGeom prst="rect">
            <a:avLst/>
          </a:prstGeom>
          <a:noFill/>
          <a:ln>
            <a:noFill/>
          </a:ln>
        </p:spPr>
      </p:pic>
      <p:pic>
        <p:nvPicPr>
          <p:cNvPr id="271" name="Google Shape;271;g345cf8e144b_0_15"/>
          <p:cNvPicPr preferRelativeResize="0"/>
          <p:nvPr/>
        </p:nvPicPr>
        <p:blipFill>
          <a:blip r:embed="rId6">
            <a:alphaModFix/>
          </a:blip>
          <a:stretch>
            <a:fillRect/>
          </a:stretch>
        </p:blipFill>
        <p:spPr>
          <a:xfrm>
            <a:off x="5332025" y="3719352"/>
            <a:ext cx="1954599" cy="11125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45cf8e144b_1_0"/>
          <p:cNvSpPr txBox="1"/>
          <p:nvPr>
            <p:ph idx="4294967295" type="title"/>
          </p:nvPr>
        </p:nvSpPr>
        <p:spPr>
          <a:xfrm>
            <a:off x="280800" y="323125"/>
            <a:ext cx="5129400" cy="75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YOLOv11 – "You Only Look Once"</a:t>
            </a:r>
            <a:endParaRPr b="0" i="0" sz="2500" u="none" cap="none" strike="noStrike">
              <a:solidFill>
                <a:srgbClr val="000000"/>
              </a:solidFill>
              <a:latin typeface="Garamond"/>
              <a:ea typeface="Garamond"/>
              <a:cs typeface="Garamond"/>
              <a:sym typeface="Garamond"/>
            </a:endParaRPr>
          </a:p>
        </p:txBody>
      </p:sp>
      <p:sp>
        <p:nvSpPr>
          <p:cNvPr id="277" name="Google Shape;277;g345cf8e144b_1_0"/>
          <p:cNvSpPr txBox="1"/>
          <p:nvPr/>
        </p:nvSpPr>
        <p:spPr>
          <a:xfrm>
            <a:off x="280800" y="1078525"/>
            <a:ext cx="4864800" cy="22797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YOLO is a popular object detection and image segmentation model, was developed by Joseph Redmon and Ali Farhadi at the University of Washington. Launched in 2015, YOLO quickly gained popularity for its high speed and accuracy.</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The model we’re using in this SOP:</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u="sng">
                <a:solidFill>
                  <a:schemeClr val="dk1"/>
                </a:solidFill>
              </a:rPr>
              <a:t>YOLO11</a:t>
            </a:r>
            <a:r>
              <a:rPr lang="en-US" sz="1100">
                <a:solidFill>
                  <a:schemeClr val="dk1"/>
                </a:solidFill>
              </a:rPr>
              <a:t>: Ultralytics' latest YOLO models delivering state-of-the-art (SOTA) performance across multiple tasks, including </a:t>
            </a:r>
            <a:r>
              <a:rPr i="1" lang="en-US" sz="1100">
                <a:solidFill>
                  <a:schemeClr val="dk1"/>
                </a:solidFill>
              </a:rPr>
              <a:t>object detection</a:t>
            </a:r>
            <a:r>
              <a:rPr lang="en-US" sz="1100">
                <a:solidFill>
                  <a:schemeClr val="dk1"/>
                </a:solidFill>
              </a:rPr>
              <a:t>, </a:t>
            </a:r>
            <a:r>
              <a:rPr i="1" lang="en-US" sz="1100">
                <a:solidFill>
                  <a:schemeClr val="dk1"/>
                </a:solidFill>
              </a:rPr>
              <a:t>segmentation</a:t>
            </a:r>
            <a:r>
              <a:rPr lang="en-US" sz="1100">
                <a:solidFill>
                  <a:schemeClr val="dk1"/>
                </a:solidFill>
              </a:rPr>
              <a:t>, </a:t>
            </a:r>
            <a:r>
              <a:rPr i="1" lang="en-US" sz="1100">
                <a:solidFill>
                  <a:schemeClr val="dk1"/>
                </a:solidFill>
              </a:rPr>
              <a:t>pose estimation</a:t>
            </a:r>
            <a:r>
              <a:rPr lang="en-US" sz="1100">
                <a:solidFill>
                  <a:schemeClr val="dk1"/>
                </a:solidFill>
              </a:rPr>
              <a:t>, </a:t>
            </a:r>
            <a:r>
              <a:rPr i="1" lang="en-US" sz="1100">
                <a:solidFill>
                  <a:schemeClr val="dk1"/>
                </a:solidFill>
              </a:rPr>
              <a:t>tracking</a:t>
            </a:r>
            <a:r>
              <a:rPr lang="en-US" sz="1100">
                <a:solidFill>
                  <a:schemeClr val="dk1"/>
                </a:solidFill>
              </a:rPr>
              <a:t>, and </a:t>
            </a:r>
            <a:r>
              <a:rPr i="1" lang="en-US" sz="1100">
                <a:solidFill>
                  <a:schemeClr val="dk1"/>
                </a:solidFill>
              </a:rPr>
              <a:t>classification</a:t>
            </a:r>
            <a:r>
              <a:rPr lang="en-US" sz="1100">
                <a:solidFill>
                  <a:schemeClr val="dk1"/>
                </a:solidFill>
              </a:rPr>
              <a:t>, leverage capabilities across diverse AI applications and domains.</a:t>
            </a:r>
            <a:endParaRPr sz="1100">
              <a:solidFill>
                <a:schemeClr val="dk1"/>
              </a:solidFill>
            </a:endParaRPr>
          </a:p>
        </p:txBody>
      </p:sp>
      <p:pic>
        <p:nvPicPr>
          <p:cNvPr id="278" name="Google Shape;278;g345cf8e144b_1_0"/>
          <p:cNvPicPr preferRelativeResize="0"/>
          <p:nvPr/>
        </p:nvPicPr>
        <p:blipFill>
          <a:blip r:embed="rId3">
            <a:alphaModFix/>
          </a:blip>
          <a:stretch>
            <a:fillRect/>
          </a:stretch>
        </p:blipFill>
        <p:spPr>
          <a:xfrm>
            <a:off x="5419050" y="304807"/>
            <a:ext cx="3420151" cy="194669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5d8add585b_0_44"/>
          <p:cNvSpPr txBox="1"/>
          <p:nvPr>
            <p:ph idx="4294967295" type="title"/>
          </p:nvPr>
        </p:nvSpPr>
        <p:spPr>
          <a:xfrm>
            <a:off x="280800" y="323125"/>
            <a:ext cx="5129400" cy="75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COCO &amp; PyTorch</a:t>
            </a:r>
            <a:endParaRPr b="0" i="0" sz="2500" u="none" cap="none" strike="noStrike">
              <a:solidFill>
                <a:srgbClr val="000000"/>
              </a:solidFill>
              <a:latin typeface="Garamond"/>
              <a:ea typeface="Garamond"/>
              <a:cs typeface="Garamond"/>
              <a:sym typeface="Garamond"/>
            </a:endParaRPr>
          </a:p>
        </p:txBody>
      </p:sp>
      <p:sp>
        <p:nvSpPr>
          <p:cNvPr id="284" name="Google Shape;284;g35d8add585b_0_44"/>
          <p:cNvSpPr txBox="1"/>
          <p:nvPr/>
        </p:nvSpPr>
        <p:spPr>
          <a:xfrm>
            <a:off x="378525" y="1366600"/>
            <a:ext cx="4757100" cy="21195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COCO</a:t>
            </a:r>
            <a:r>
              <a:rPr lang="en-US" sz="1100">
                <a:solidFill>
                  <a:schemeClr val="dk1"/>
                </a:solidFill>
              </a:rPr>
              <a:t> (Common Objects in Context)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dataset is </a:t>
            </a:r>
            <a:r>
              <a:rPr b="1" lang="en-US" sz="1100">
                <a:solidFill>
                  <a:schemeClr val="dk1"/>
                </a:solidFill>
              </a:rPr>
              <a:t>a large dataset for object detection, segmentation, and captioning</a:t>
            </a:r>
            <a:r>
              <a:rPr lang="en-US" sz="1100">
                <a:solidFill>
                  <a:schemeClr val="dk1"/>
                </a:solidFill>
              </a:rPr>
              <a:t>. </a:t>
            </a:r>
            <a:r>
              <a:rPr lang="en-US" sz="1100">
                <a:solidFill>
                  <a:schemeClr val="dk1"/>
                </a:solidFill>
              </a:rPr>
              <a:t>COCO has 330K images (&gt;200K labeled) and 80 object categories.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PyTorch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is a </a:t>
            </a:r>
            <a:r>
              <a:rPr b="1" lang="en-US" sz="1100">
                <a:solidFill>
                  <a:schemeClr val="dk1"/>
                </a:solidFill>
              </a:rPr>
              <a:t>tool that helps you build and train AI models</a:t>
            </a:r>
            <a:r>
              <a:rPr lang="en-US" sz="1100">
                <a:solidFill>
                  <a:schemeClr val="dk1"/>
                </a:solidFill>
              </a:rPr>
              <a:t> — especially deep learning models like those used in computer vision and natural language processing.</a:t>
            </a:r>
            <a:endParaRPr sz="1100">
              <a:solidFill>
                <a:schemeClr val="dk1"/>
              </a:solidFill>
            </a:endParaRPr>
          </a:p>
        </p:txBody>
      </p:sp>
      <p:pic>
        <p:nvPicPr>
          <p:cNvPr id="285" name="Google Shape;285;g35d8add585b_0_44"/>
          <p:cNvPicPr preferRelativeResize="0"/>
          <p:nvPr/>
        </p:nvPicPr>
        <p:blipFill>
          <a:blip r:embed="rId3">
            <a:alphaModFix/>
          </a:blip>
          <a:stretch>
            <a:fillRect/>
          </a:stretch>
        </p:blipFill>
        <p:spPr>
          <a:xfrm>
            <a:off x="5665925" y="2705850"/>
            <a:ext cx="2670899" cy="659325"/>
          </a:xfrm>
          <a:prstGeom prst="rect">
            <a:avLst/>
          </a:prstGeom>
          <a:noFill/>
          <a:ln>
            <a:noFill/>
          </a:ln>
        </p:spPr>
      </p:pic>
      <p:pic>
        <p:nvPicPr>
          <p:cNvPr id="286" name="Google Shape;286;g35d8add585b_0_44"/>
          <p:cNvPicPr preferRelativeResize="0"/>
          <p:nvPr/>
        </p:nvPicPr>
        <p:blipFill>
          <a:blip r:embed="rId4">
            <a:alphaModFix/>
          </a:blip>
          <a:stretch>
            <a:fillRect/>
          </a:stretch>
        </p:blipFill>
        <p:spPr>
          <a:xfrm>
            <a:off x="5577150" y="1272956"/>
            <a:ext cx="3124200" cy="9489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5d8add585b_0_72"/>
          <p:cNvSpPr txBox="1"/>
          <p:nvPr>
            <p:ph idx="4294967295" type="title"/>
          </p:nvPr>
        </p:nvSpPr>
        <p:spPr>
          <a:xfrm>
            <a:off x="280800" y="323125"/>
            <a:ext cx="5129400" cy="75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TensorRT – "The AI Booster"</a:t>
            </a:r>
            <a:endParaRPr b="0" i="0" sz="2500" u="none" cap="none" strike="noStrike">
              <a:solidFill>
                <a:srgbClr val="000000"/>
              </a:solidFill>
              <a:latin typeface="Garamond"/>
              <a:ea typeface="Garamond"/>
              <a:cs typeface="Garamond"/>
              <a:sym typeface="Garamond"/>
            </a:endParaRPr>
          </a:p>
        </p:txBody>
      </p:sp>
      <p:sp>
        <p:nvSpPr>
          <p:cNvPr id="292" name="Google Shape;292;g35d8add585b_0_72"/>
          <p:cNvSpPr txBox="1"/>
          <p:nvPr/>
        </p:nvSpPr>
        <p:spPr>
          <a:xfrm>
            <a:off x="413900" y="1078525"/>
            <a:ext cx="5395500" cy="27279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it is</a:t>
            </a:r>
            <a:r>
              <a:rPr lang="en-US" sz="1100">
                <a:solidFill>
                  <a:schemeClr val="dk1"/>
                </a:solidFill>
              </a:rPr>
              <a:t>:</a:t>
            </a:r>
            <a:br>
              <a:rPr lang="en-US" sz="1100">
                <a:solidFill>
                  <a:schemeClr val="dk1"/>
                </a:solidFill>
              </a:rPr>
            </a:br>
            <a:r>
              <a:rPr lang="en-US" sz="1100">
                <a:solidFill>
                  <a:schemeClr val="dk1"/>
                </a:solidFill>
              </a:rPr>
              <a:t>A tool from NVIDIA that </a:t>
            </a:r>
            <a:r>
              <a:rPr b="1" lang="en-US" sz="1100">
                <a:solidFill>
                  <a:schemeClr val="dk1"/>
                </a:solidFill>
              </a:rPr>
              <a:t>makes AI models run faster</a:t>
            </a:r>
            <a:r>
              <a:rPr lang="en-US" sz="1100">
                <a:solidFill>
                  <a:schemeClr val="dk1"/>
                </a:solidFill>
              </a:rPr>
              <a:t> on NVIDIA GPUs. Up to 5x faster inference via</a:t>
            </a:r>
            <a:r>
              <a:rPr b="1" lang="en-US" sz="1100">
                <a:solidFill>
                  <a:schemeClr val="dk1"/>
                </a:solidFill>
              </a:rPr>
              <a:t> hardware optimization</a:t>
            </a: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What it’s used for</a:t>
            </a:r>
            <a:r>
              <a:rPr lang="en-US" sz="1100">
                <a:solidFill>
                  <a:schemeClr val="dk1"/>
                </a:solidFill>
              </a:rPr>
              <a: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Making AI tasks like </a:t>
            </a:r>
            <a:r>
              <a:rPr b="1" lang="en-US" sz="1100">
                <a:solidFill>
                  <a:schemeClr val="dk1"/>
                </a:solidFill>
              </a:rPr>
              <a:t>object detection</a:t>
            </a:r>
            <a:r>
              <a:rPr lang="en-US" sz="1100">
                <a:solidFill>
                  <a:schemeClr val="dk1"/>
                </a:solidFill>
              </a:rPr>
              <a:t>, </a:t>
            </a:r>
            <a:r>
              <a:rPr b="1" lang="en-US" sz="1100">
                <a:solidFill>
                  <a:schemeClr val="dk1"/>
                </a:solidFill>
              </a:rPr>
              <a:t>translation</a:t>
            </a:r>
            <a:r>
              <a:rPr lang="en-US" sz="1100">
                <a:solidFill>
                  <a:schemeClr val="dk1"/>
                </a:solidFill>
              </a:rPr>
              <a:t>, or </a:t>
            </a:r>
            <a:r>
              <a:rPr b="1" lang="en-US" sz="1100">
                <a:solidFill>
                  <a:schemeClr val="dk1"/>
                </a:solidFill>
              </a:rPr>
              <a:t>classification</a:t>
            </a:r>
            <a:r>
              <a:rPr lang="en-US" sz="1100">
                <a:solidFill>
                  <a:schemeClr val="dk1"/>
                </a:solidFill>
              </a:rPr>
              <a:t> run </a:t>
            </a:r>
            <a:r>
              <a:rPr b="1" lang="en-US" sz="1100">
                <a:solidFill>
                  <a:schemeClr val="dk1"/>
                </a:solidFill>
              </a:rPr>
              <a:t>faster</a:t>
            </a:r>
            <a:r>
              <a:rPr lang="en-US" sz="1100">
                <a:solidFill>
                  <a:schemeClr val="dk1"/>
                </a:solidFill>
              </a:rPr>
              <a:t> and with </a:t>
            </a:r>
            <a:r>
              <a:rPr b="1" lang="en-US" sz="1100">
                <a:solidFill>
                  <a:schemeClr val="dk1"/>
                </a:solidFill>
              </a:rPr>
              <a:t>lower latency</a:t>
            </a:r>
            <a:r>
              <a:rPr lang="en-US"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Especially useful when you want to run AI models in </a:t>
            </a:r>
            <a:r>
              <a:rPr b="1" lang="en-US" sz="1100">
                <a:solidFill>
                  <a:schemeClr val="dk1"/>
                </a:solidFill>
              </a:rPr>
              <a:t>real-time</a:t>
            </a:r>
            <a:r>
              <a:rPr lang="en-US" sz="1100">
                <a:solidFill>
                  <a:schemeClr val="dk1"/>
                </a:solidFill>
              </a:rPr>
              <a:t> (e.g., on a live video stream or camera).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can apply </a:t>
            </a:r>
            <a:r>
              <a:rPr b="1" lang="en-US" sz="1100">
                <a:solidFill>
                  <a:schemeClr val="dk1"/>
                </a:solidFill>
              </a:rPr>
              <a:t>precision calibration</a:t>
            </a:r>
            <a:r>
              <a:rPr lang="en-US" sz="1100">
                <a:solidFill>
                  <a:schemeClr val="dk1"/>
                </a:solidFill>
              </a:rPr>
              <a:t> (e.g. from FP32 to FP16 or INT8)</a:t>
            </a:r>
            <a:endParaRPr sz="1100">
              <a:solidFill>
                <a:schemeClr val="dk1"/>
              </a:solidFill>
            </a:endParaRPr>
          </a:p>
        </p:txBody>
      </p:sp>
      <p:pic>
        <p:nvPicPr>
          <p:cNvPr id="293" name="Google Shape;293;g35d8add585b_0_72"/>
          <p:cNvPicPr preferRelativeResize="0"/>
          <p:nvPr/>
        </p:nvPicPr>
        <p:blipFill>
          <a:blip r:embed="rId3">
            <a:alphaModFix/>
          </a:blip>
          <a:stretch>
            <a:fillRect/>
          </a:stretch>
        </p:blipFill>
        <p:spPr>
          <a:xfrm>
            <a:off x="6245502" y="323124"/>
            <a:ext cx="2504226" cy="1562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5d8add585b_0_12"/>
          <p:cNvSpPr txBox="1"/>
          <p:nvPr>
            <p:ph idx="4294967295" type="title"/>
          </p:nvPr>
        </p:nvSpPr>
        <p:spPr>
          <a:xfrm>
            <a:off x="280800" y="323125"/>
            <a:ext cx="5129400" cy="75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ONNX vs Engine files</a:t>
            </a:r>
            <a:endParaRPr b="0" i="0" sz="2500" u="none" cap="none" strike="noStrike">
              <a:solidFill>
                <a:srgbClr val="000000"/>
              </a:solidFill>
              <a:latin typeface="Garamond"/>
              <a:ea typeface="Garamond"/>
              <a:cs typeface="Garamond"/>
              <a:sym typeface="Garamond"/>
            </a:endParaRPr>
          </a:p>
        </p:txBody>
      </p:sp>
      <p:sp>
        <p:nvSpPr>
          <p:cNvPr id="299" name="Google Shape;299;g35d8add585b_0_12"/>
          <p:cNvSpPr txBox="1"/>
          <p:nvPr/>
        </p:nvSpPr>
        <p:spPr>
          <a:xfrm>
            <a:off x="413900" y="1078525"/>
            <a:ext cx="6047400" cy="34386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is an ONNX file?</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Before TensorRT can optimize a model, the model must be converted into a </a:t>
            </a:r>
            <a:r>
              <a:rPr b="1" lang="en-US" sz="1100">
                <a:solidFill>
                  <a:schemeClr val="dk1"/>
                </a:solidFill>
              </a:rPr>
              <a:t>universal format</a:t>
            </a:r>
            <a:r>
              <a:rPr lang="en-US" sz="1100">
                <a:solidFill>
                  <a:schemeClr val="dk1"/>
                </a:solidFill>
              </a:rPr>
              <a:t> called </a:t>
            </a:r>
            <a:r>
              <a:rPr b="1" lang="en-US" sz="1100">
                <a:solidFill>
                  <a:schemeClr val="dk1"/>
                </a:solidFill>
              </a:rPr>
              <a:t>ONNX (</a:t>
            </a:r>
            <a:r>
              <a:rPr i="1" lang="en-US" sz="1100">
                <a:solidFill>
                  <a:schemeClr val="dk1"/>
                </a:solidFill>
              </a:rPr>
              <a:t>Open Neural Network Exchange</a:t>
            </a:r>
            <a:r>
              <a:rPr lang="en-US" sz="1100">
                <a:solidFill>
                  <a:schemeClr val="dk1"/>
                </a:solidFill>
              </a:rPr>
              <a: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It’s a standard file format that allows you to </a:t>
            </a:r>
            <a:r>
              <a:rPr b="1" lang="en-US" sz="1100">
                <a:solidFill>
                  <a:schemeClr val="dk1"/>
                </a:solidFill>
              </a:rPr>
              <a:t>move models between frameworks</a:t>
            </a:r>
            <a:r>
              <a:rPr lang="en-US" sz="1100">
                <a:solidFill>
                  <a:schemeClr val="dk1"/>
                </a:solidFill>
              </a:rPr>
              <a:t>, like PyTorch → TensorRT.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Think of it as a </a:t>
            </a:r>
            <a:r>
              <a:rPr b="1" lang="en-US" sz="1100">
                <a:solidFill>
                  <a:schemeClr val="dk1"/>
                </a:solidFill>
              </a:rPr>
              <a:t>"bridge file"</a:t>
            </a:r>
            <a:r>
              <a:rPr lang="en-US" sz="1100">
                <a:solidFill>
                  <a:schemeClr val="dk1"/>
                </a:solidFill>
              </a:rPr>
              <a:t> that allows TensorRT to understand the model and prepare it for acceleration.</a:t>
            </a:r>
            <a:endParaRPr sz="1100">
              <a:solidFill>
                <a:schemeClr val="dk1"/>
              </a:solidFill>
            </a:endParaRPr>
          </a:p>
          <a:p>
            <a:pPr indent="0" lvl="0" marL="0" rtl="0" algn="l">
              <a:lnSpc>
                <a:spcPct val="115000"/>
              </a:lnSpc>
              <a:spcBef>
                <a:spcPts val="1400"/>
              </a:spcBef>
              <a:spcAft>
                <a:spcPts val="0"/>
              </a:spcAft>
              <a:buNone/>
            </a:pPr>
            <a:r>
              <a:rPr b="1" lang="en-US" sz="1100">
                <a:solidFill>
                  <a:schemeClr val="dk1"/>
                </a:solidFill>
              </a:rPr>
              <a:t>What is an Engine File?</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Once TensorRT has read the ONNX file and applied all its optimizations it compiles the model into an </a:t>
            </a:r>
            <a:r>
              <a:rPr b="1" lang="en-US" sz="1100">
                <a:solidFill>
                  <a:schemeClr val="dk1"/>
                </a:solidFill>
              </a:rPr>
              <a:t>engine file</a:t>
            </a:r>
            <a:r>
              <a:rPr lang="en-US" sz="1100">
                <a:solidFill>
                  <a:schemeClr val="dk1"/>
                </a:solidFill>
              </a:rPr>
              <a: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An </a:t>
            </a:r>
            <a:r>
              <a:rPr b="1" lang="en-US" sz="1100">
                <a:solidFill>
                  <a:schemeClr val="dk1"/>
                </a:solidFill>
              </a:rPr>
              <a:t>engine file</a:t>
            </a:r>
            <a:r>
              <a:rPr lang="en-US" sz="1100">
                <a:solidFill>
                  <a:schemeClr val="dk1"/>
                </a:solidFill>
              </a:rPr>
              <a:t> is the </a:t>
            </a:r>
            <a:r>
              <a:rPr b="1" lang="en-US" sz="1100">
                <a:solidFill>
                  <a:schemeClr val="dk1"/>
                </a:solidFill>
              </a:rPr>
              <a:t>final, fully optimized binary</a:t>
            </a:r>
            <a:r>
              <a:rPr lang="en-US" sz="1100">
                <a:solidFill>
                  <a:schemeClr val="dk1"/>
                </a:solidFill>
              </a:rPr>
              <a:t> ready to run on NVIDIA hardware.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It runs extremely fast — but it’s </a:t>
            </a:r>
            <a:r>
              <a:rPr b="1" lang="en-US" sz="1100">
                <a:solidFill>
                  <a:schemeClr val="dk1"/>
                </a:solidFill>
              </a:rPr>
              <a:t>tied to the GPU</a:t>
            </a:r>
            <a:r>
              <a:rPr lang="en-US" sz="1100">
                <a:solidFill>
                  <a:schemeClr val="dk1"/>
                </a:solidFill>
              </a:rPr>
              <a:t> and can’t easily be changed or retrained.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100">
              <a:solidFill>
                <a:schemeClr val="dk1"/>
              </a:solidFill>
            </a:endParaRPr>
          </a:p>
        </p:txBody>
      </p:sp>
      <p:pic>
        <p:nvPicPr>
          <p:cNvPr id="300" name="Google Shape;300;g35d8add585b_0_12"/>
          <p:cNvPicPr preferRelativeResize="0"/>
          <p:nvPr/>
        </p:nvPicPr>
        <p:blipFill>
          <a:blip r:embed="rId3">
            <a:alphaModFix/>
          </a:blip>
          <a:stretch>
            <a:fillRect/>
          </a:stretch>
        </p:blipFill>
        <p:spPr>
          <a:xfrm>
            <a:off x="6402602" y="205299"/>
            <a:ext cx="2504226" cy="1562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5d8add585b_0_24"/>
          <p:cNvSpPr txBox="1"/>
          <p:nvPr>
            <p:ph idx="4294967295" type="title"/>
          </p:nvPr>
        </p:nvSpPr>
        <p:spPr>
          <a:xfrm>
            <a:off x="280800" y="323125"/>
            <a:ext cx="5129400" cy="75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Ultralytics – "The Easy YOLO Toolkit"</a:t>
            </a:r>
            <a:endParaRPr b="0" i="0" sz="2500" u="none" cap="none" strike="noStrike">
              <a:solidFill>
                <a:srgbClr val="000000"/>
              </a:solidFill>
              <a:latin typeface="Garamond"/>
              <a:ea typeface="Garamond"/>
              <a:cs typeface="Garamond"/>
              <a:sym typeface="Garamond"/>
            </a:endParaRPr>
          </a:p>
        </p:txBody>
      </p:sp>
      <p:sp>
        <p:nvSpPr>
          <p:cNvPr id="306" name="Google Shape;306;g35d8add585b_0_24"/>
          <p:cNvSpPr txBox="1"/>
          <p:nvPr/>
        </p:nvSpPr>
        <p:spPr>
          <a:xfrm>
            <a:off x="413900" y="1413900"/>
            <a:ext cx="5395500" cy="27747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it is</a:t>
            </a:r>
            <a:r>
              <a:rPr lang="en-US" sz="1100">
                <a:solidFill>
                  <a:schemeClr val="dk1"/>
                </a:solidFill>
              </a:rPr>
              <a:t>:</a:t>
            </a:r>
            <a:br>
              <a:rPr lang="en-US" sz="1100">
                <a:solidFill>
                  <a:schemeClr val="dk1"/>
                </a:solidFill>
              </a:rPr>
            </a:br>
            <a:r>
              <a:rPr lang="en-US" sz="1100">
                <a:solidFill>
                  <a:schemeClr val="dk1"/>
                </a:solidFill>
              </a:rPr>
              <a:t>A company (and open-source project) that makes it </a:t>
            </a:r>
            <a:r>
              <a:rPr b="1" lang="en-US" sz="1100">
                <a:solidFill>
                  <a:schemeClr val="dk1"/>
                </a:solidFill>
              </a:rPr>
              <a:t>super easy to use YOLO</a:t>
            </a:r>
            <a:r>
              <a:rPr lang="en-US" sz="1100">
                <a:solidFill>
                  <a:schemeClr val="dk1"/>
                </a:solidFill>
              </a:rPr>
              <a:t>, especially for beginners.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it’s used for</a:t>
            </a:r>
            <a:r>
              <a:rPr lang="en-US" sz="1100">
                <a:solidFill>
                  <a:schemeClr val="dk1"/>
                </a:solidFill>
              </a:rPr>
              <a:t>:</a:t>
            </a:r>
            <a:br>
              <a:rPr lang="en-US" sz="1100">
                <a:solidFill>
                  <a:schemeClr val="dk1"/>
                </a:solidFill>
              </a:rPr>
            </a:br>
            <a:r>
              <a:rPr lang="en-US" sz="1100">
                <a:solidFill>
                  <a:schemeClr val="dk1"/>
                </a:solidFill>
              </a:rPr>
              <a:t>Creating your own object detection system with almost no code — very popular in research and small businesses.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100">
                <a:solidFill>
                  <a:schemeClr val="dk1"/>
                </a:solidFill>
              </a:rPr>
              <a:t>Ultralytics is built on </a:t>
            </a:r>
            <a:r>
              <a:rPr b="1" i="1" lang="en-US" sz="1100">
                <a:solidFill>
                  <a:schemeClr val="dk1"/>
                </a:solidFill>
              </a:rPr>
              <a:t>PyTorch</a:t>
            </a:r>
            <a:r>
              <a:rPr i="1" lang="en-US" sz="1100">
                <a:solidFill>
                  <a:schemeClr val="dk1"/>
                </a:solidFill>
              </a:rPr>
              <a:t> — but hides the complexity so you don’t have to deal with code unless you want to.</a:t>
            </a:r>
            <a:endParaRPr i="1" sz="1100">
              <a:solidFill>
                <a:schemeClr val="dk1"/>
              </a:solidFill>
            </a:endParaRPr>
          </a:p>
          <a:p>
            <a:pPr indent="0" lvl="0" marL="0" marR="0" rtl="0" algn="l">
              <a:lnSpc>
                <a:spcPct val="115000"/>
              </a:lnSpc>
              <a:spcBef>
                <a:spcPts val="1200"/>
              </a:spcBef>
              <a:spcAft>
                <a:spcPts val="1200"/>
              </a:spcAft>
              <a:buClr>
                <a:schemeClr val="dk1"/>
              </a:buClr>
              <a:buSzPts val="1100"/>
              <a:buFont typeface="Arial"/>
              <a:buNone/>
            </a:pPr>
            <a:r>
              <a:t/>
            </a:r>
            <a:endParaRPr b="1" sz="1100">
              <a:solidFill>
                <a:schemeClr val="dk1"/>
              </a:solidFill>
            </a:endParaRPr>
          </a:p>
        </p:txBody>
      </p:sp>
      <p:pic>
        <p:nvPicPr>
          <p:cNvPr id="307" name="Google Shape;307;g35d8add585b_0_24"/>
          <p:cNvPicPr preferRelativeResize="0"/>
          <p:nvPr/>
        </p:nvPicPr>
        <p:blipFill rotWithShape="1">
          <a:blip r:embed="rId3">
            <a:alphaModFix/>
          </a:blip>
          <a:srcRect b="17951" l="34375" r="33435" t="19257"/>
          <a:stretch/>
        </p:blipFill>
        <p:spPr>
          <a:xfrm>
            <a:off x="6543150" y="2429350"/>
            <a:ext cx="1754175" cy="1831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5d8add585b_0_31"/>
          <p:cNvSpPr txBox="1"/>
          <p:nvPr>
            <p:ph idx="4294967295" type="title"/>
          </p:nvPr>
        </p:nvSpPr>
        <p:spPr>
          <a:xfrm>
            <a:off x="280800" y="323125"/>
            <a:ext cx="5129400" cy="75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DeepStream</a:t>
            </a:r>
            <a:endParaRPr b="0" i="0" sz="2500" u="none" cap="none" strike="noStrike">
              <a:solidFill>
                <a:srgbClr val="000000"/>
              </a:solidFill>
              <a:latin typeface="Garamond"/>
              <a:ea typeface="Garamond"/>
              <a:cs typeface="Garamond"/>
              <a:sym typeface="Garamond"/>
            </a:endParaRPr>
          </a:p>
        </p:txBody>
      </p:sp>
      <p:sp>
        <p:nvSpPr>
          <p:cNvPr id="313" name="Google Shape;313;g35d8add585b_0_31"/>
          <p:cNvSpPr txBox="1"/>
          <p:nvPr/>
        </p:nvSpPr>
        <p:spPr>
          <a:xfrm>
            <a:off x="413900" y="1413900"/>
            <a:ext cx="5395500" cy="23157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it is</a:t>
            </a:r>
            <a:r>
              <a:rPr lang="en-US" sz="1100">
                <a:solidFill>
                  <a:schemeClr val="dk1"/>
                </a:solidFill>
              </a:rPr>
              <a:t>:</a:t>
            </a:r>
            <a:br>
              <a:rPr lang="en-US" sz="1100">
                <a:solidFill>
                  <a:schemeClr val="dk1"/>
                </a:solidFill>
              </a:rPr>
            </a:br>
            <a:r>
              <a:rPr lang="en-US" sz="1100">
                <a:solidFill>
                  <a:schemeClr val="dk1"/>
                </a:solidFill>
              </a:rPr>
              <a:t>A platform by NVIDIA to handle </a:t>
            </a:r>
            <a:r>
              <a:rPr b="1" lang="en-US" sz="1100">
                <a:solidFill>
                  <a:schemeClr val="dk1"/>
                </a:solidFill>
              </a:rPr>
              <a:t>video + AI</a:t>
            </a:r>
            <a:r>
              <a:rPr lang="en-US" sz="1100">
                <a:solidFill>
                  <a:schemeClr val="dk1"/>
                </a:solidFill>
              </a:rPr>
              <a:t> together, especially on </a:t>
            </a:r>
            <a:r>
              <a:rPr b="1" lang="en-US" sz="1100">
                <a:solidFill>
                  <a:schemeClr val="dk1"/>
                </a:solidFill>
              </a:rPr>
              <a:t>live streams</a:t>
            </a:r>
            <a:r>
              <a:rPr lang="en-US" sz="1100">
                <a:solidFill>
                  <a:schemeClr val="dk1"/>
                </a:solidFill>
              </a:rPr>
              <a:t>. It creates GPU-accelerated pipelines for NVIDIA edge devices.</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US" sz="1100">
                <a:solidFill>
                  <a:schemeClr val="dk1"/>
                </a:solidFill>
              </a:rPr>
              <a:t>What it’s used for</a:t>
            </a:r>
            <a:r>
              <a:rPr lang="en-US" sz="1100">
                <a:solidFill>
                  <a:schemeClr val="dk1"/>
                </a:solidFill>
              </a:rPr>
              <a:t>:</a:t>
            </a:r>
            <a:br>
              <a:rPr lang="en-US" sz="1100">
                <a:solidFill>
                  <a:schemeClr val="dk1"/>
                </a:solidFill>
              </a:rPr>
            </a:br>
            <a:r>
              <a:rPr lang="en-US" sz="1100">
                <a:solidFill>
                  <a:schemeClr val="dk1"/>
                </a:solidFill>
              </a:rPr>
              <a:t>Smart cities, traffic monitoring, retail surveillance, and factory automation.</a:t>
            </a:r>
            <a:endParaRPr sz="1100">
              <a:solidFill>
                <a:schemeClr val="dk1"/>
              </a:solidFill>
            </a:endParaRPr>
          </a:p>
        </p:txBody>
      </p:sp>
      <p:pic>
        <p:nvPicPr>
          <p:cNvPr id="314" name="Google Shape;314;g35d8add585b_0_31"/>
          <p:cNvPicPr preferRelativeResize="0"/>
          <p:nvPr/>
        </p:nvPicPr>
        <p:blipFill rotWithShape="1">
          <a:blip r:embed="rId3">
            <a:alphaModFix/>
          </a:blip>
          <a:srcRect b="17951" l="34375" r="33435" t="19257"/>
          <a:stretch/>
        </p:blipFill>
        <p:spPr>
          <a:xfrm>
            <a:off x="6615800" y="546200"/>
            <a:ext cx="1367524" cy="1427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
          <p:cNvSpPr txBox="1"/>
          <p:nvPr>
            <p:ph idx="4294967295" type="title"/>
          </p:nvPr>
        </p:nvSpPr>
        <p:spPr>
          <a:xfrm>
            <a:off x="302300" y="3918003"/>
            <a:ext cx="6851100" cy="558600"/>
          </a:xfrm>
          <a:prstGeom prst="rect">
            <a:avLst/>
          </a:prstGeom>
          <a:noFill/>
          <a:ln>
            <a:noFill/>
          </a:ln>
        </p:spPr>
        <p:txBody>
          <a:bodyPr anchorCtr="0" anchor="b" bIns="34200" lIns="68400" spcFirstLastPara="1" rIns="68400" wrap="square" tIns="34200">
            <a:noAutofit/>
          </a:bodyPr>
          <a:lstStyle/>
          <a:p>
            <a:pPr indent="0" lvl="0" marL="0" marR="0" rtl="0" algn="l">
              <a:lnSpc>
                <a:spcPct val="90000"/>
              </a:lnSpc>
              <a:spcBef>
                <a:spcPts val="0"/>
              </a:spcBef>
              <a:spcAft>
                <a:spcPts val="0"/>
              </a:spcAft>
              <a:buClr>
                <a:srgbClr val="004381"/>
              </a:buClr>
              <a:buSzPts val="3000"/>
              <a:buFont typeface="Calibri"/>
              <a:buNone/>
            </a:pPr>
            <a:r>
              <a:rPr b="1" lang="en-US" sz="4000">
                <a:solidFill>
                  <a:srgbClr val="004381"/>
                </a:solidFill>
                <a:latin typeface="Calibri"/>
                <a:ea typeface="Calibri"/>
                <a:cs typeface="Calibri"/>
                <a:sym typeface="Calibri"/>
              </a:rPr>
              <a:t>Let the DEMO begin</a:t>
            </a:r>
            <a:endParaRPr b="0" sz="4000" u="none" cap="none" strike="noStrike">
              <a:solidFill>
                <a:srgbClr val="000000"/>
              </a:solidFill>
              <a:latin typeface="Garamond"/>
              <a:ea typeface="Garamond"/>
              <a:cs typeface="Garamond"/>
              <a:sym typeface="Garamo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5d8add585b_0_85"/>
          <p:cNvSpPr txBox="1"/>
          <p:nvPr>
            <p:ph idx="4294967295" type="title"/>
          </p:nvPr>
        </p:nvSpPr>
        <p:spPr>
          <a:xfrm>
            <a:off x="280800" y="323125"/>
            <a:ext cx="5129400" cy="755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500"/>
              <a:buFont typeface="Calibri"/>
              <a:buNone/>
            </a:pPr>
            <a:r>
              <a:rPr b="1" lang="en-US" sz="2500">
                <a:solidFill>
                  <a:srgbClr val="002060"/>
                </a:solidFill>
                <a:latin typeface="Calibri"/>
                <a:ea typeface="Calibri"/>
                <a:cs typeface="Calibri"/>
                <a:sym typeface="Calibri"/>
              </a:rPr>
              <a:t>Installing Ultralytics</a:t>
            </a:r>
            <a:endParaRPr b="0" i="0" sz="2500" u="none" cap="none" strike="noStrike">
              <a:solidFill>
                <a:srgbClr val="000000"/>
              </a:solidFill>
              <a:latin typeface="Garamond"/>
              <a:ea typeface="Garamond"/>
              <a:cs typeface="Garamond"/>
              <a:sym typeface="Garamond"/>
            </a:endParaRPr>
          </a:p>
        </p:txBody>
      </p:sp>
      <p:pic>
        <p:nvPicPr>
          <p:cNvPr id="325" name="Google Shape;325;g35d8add585b_0_85"/>
          <p:cNvPicPr preferRelativeResize="0"/>
          <p:nvPr/>
        </p:nvPicPr>
        <p:blipFill>
          <a:blip r:embed="rId3">
            <a:alphaModFix/>
          </a:blip>
          <a:stretch>
            <a:fillRect/>
          </a:stretch>
        </p:blipFill>
        <p:spPr>
          <a:xfrm>
            <a:off x="373174" y="1489225"/>
            <a:ext cx="6397224" cy="3057224"/>
          </a:xfrm>
          <a:prstGeom prst="rect">
            <a:avLst/>
          </a:prstGeom>
          <a:noFill/>
          <a:ln>
            <a:noFill/>
          </a:ln>
        </p:spPr>
      </p:pic>
      <p:pic>
        <p:nvPicPr>
          <p:cNvPr id="326" name="Google Shape;326;g35d8add585b_0_85"/>
          <p:cNvPicPr preferRelativeResize="0"/>
          <p:nvPr/>
        </p:nvPicPr>
        <p:blipFill rotWithShape="1">
          <a:blip r:embed="rId4">
            <a:alphaModFix/>
          </a:blip>
          <a:srcRect b="0" l="0" r="0" t="0"/>
          <a:stretch/>
        </p:blipFill>
        <p:spPr>
          <a:xfrm>
            <a:off x="5410200" y="0"/>
            <a:ext cx="3733800" cy="1828800"/>
          </a:xfrm>
          <a:prstGeom prst="rect">
            <a:avLst/>
          </a:prstGeom>
          <a:noFill/>
          <a:ln>
            <a:noFill/>
          </a:ln>
        </p:spPr>
      </p:pic>
      <p:sp>
        <p:nvSpPr>
          <p:cNvPr id="327" name="Google Shape;327;g35d8add585b_0_85"/>
          <p:cNvSpPr txBox="1"/>
          <p:nvPr/>
        </p:nvSpPr>
        <p:spPr>
          <a:xfrm>
            <a:off x="296975" y="952525"/>
            <a:ext cx="26217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chemeClr val="hlink"/>
                </a:solidFill>
                <a:hlinkClick r:id="rId5"/>
              </a:rPr>
              <a:t>https://docs.ultralytics.com/quickstart/</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2004-01-16T02:40:24Z</dcterms:created>
  <dc:creator>Seven.Lin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0x010100F6165AF2B213CD48AF7D88E8AE93691D</vt:lpwstr>
  </property>
  <property fmtid="{D5CDD505-2E9C-101B-9397-08002B2CF9AE}" pid="3" name="HiddenSlides">
    <vt:i4>4</vt:i4>
  </property>
  <property fmtid="{D5CDD505-2E9C-101B-9397-08002B2CF9AE}" pid="4" name="Notes">
    <vt:i4>1</vt:i4>
  </property>
  <property fmtid="{D5CDD505-2E9C-101B-9397-08002B2CF9AE}" pid="5" name="PresentationFormat">
    <vt:lpwstr>On-screen Show (16:9)</vt:lpwstr>
  </property>
  <property fmtid="{D5CDD505-2E9C-101B-9397-08002B2CF9AE}" pid="6" name="Slides">
    <vt:i4>43</vt:i4>
  </property>
</Properties>
</file>